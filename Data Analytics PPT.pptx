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4" r:id="rId7"/>
    <p:sldId id="261" r:id="rId8"/>
    <p:sldId id="265" r:id="rId9"/>
    <p:sldId id="262" r:id="rId10"/>
    <p:sldId id="266" r:id="rId11"/>
    <p:sldId id="267" r:id="rId12"/>
    <p:sldId id="263" r:id="rId13"/>
  </p:sldIdLst>
  <p:sldSz cx="18288000" cy="10287000"/>
  <p:notesSz cx="6858000" cy="9144000"/>
  <p:embeddedFontLst>
    <p:embeddedFont>
      <p:font typeface="Aileron" panose="020B0604020202020204" charset="0"/>
      <p:regular r:id="rId14"/>
    </p:embeddedFont>
    <p:embeddedFont>
      <p:font typeface="Aileron Bold" panose="020B0604020202020204" charset="0"/>
      <p:regular r:id="rId15"/>
    </p:embeddedFont>
    <p:embeddedFont>
      <p:font typeface="Aileron Heavy" panose="020B0604020202020204" charset="0"/>
      <p:regular r:id="rId16"/>
    </p:embeddedFont>
    <p:embeddedFont>
      <p:font typeface="Aileron Ultra-Bold" panose="020B0604020202020204" charset="0"/>
      <p:regular r:id="rId17"/>
    </p:embeddedFont>
    <p:embeddedFont>
      <p:font typeface="Akzidenz-Grotesk Heavy" panose="020B0604020202020204" charset="0"/>
      <p:regular r:id="rId18"/>
    </p:embeddedFont>
    <p:embeddedFont>
      <p:font typeface="Archivo Black" panose="020B0604020202020204" charset="0"/>
      <p:regular r:id="rId19"/>
    </p:embeddedFont>
    <p:embeddedFont>
      <p:font typeface="Barlow Condensed Heavy" panose="020B0604020202020204" charset="0"/>
      <p:regular r:id="rId20"/>
    </p:embeddedFont>
    <p:embeddedFont>
      <p:font typeface="Norweste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5.svg"/><Relationship Id="rId7"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9.svg"/><Relationship Id="rId4" Type="http://schemas.openxmlformats.org/officeDocument/2006/relationships/image" Target="../media/image10.jpe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7.svg"/><Relationship Id="rId7" Type="http://schemas.openxmlformats.org/officeDocument/2006/relationships/image" Target="../media/image5.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svg"/><Relationship Id="rId7" Type="http://schemas.openxmlformats.org/officeDocument/2006/relationships/image" Target="../media/image5.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svg"/><Relationship Id="rId7" Type="http://schemas.openxmlformats.org/officeDocument/2006/relationships/image" Target="../media/image5.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7.svg"/><Relationship Id="rId7"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1098615" y="3307946"/>
            <a:ext cx="11071218" cy="5950354"/>
            <a:chOff x="-1270" y="0"/>
            <a:chExt cx="5373370" cy="2887980"/>
          </a:xfrm>
        </p:grpSpPr>
        <p:sp>
          <p:nvSpPr>
            <p:cNvPr id="4" name="Freeform 4"/>
            <p:cNvSpPr/>
            <p:nvPr/>
          </p:nvSpPr>
          <p:spPr>
            <a:xfrm>
              <a:off x="0" y="0"/>
              <a:ext cx="5373370" cy="2887980"/>
            </a:xfrm>
            <a:custGeom>
              <a:avLst/>
              <a:gdLst/>
              <a:ahLst/>
              <a:cxnLst/>
              <a:rect l="l" t="t" r="r" b="b"/>
              <a:pathLst>
                <a:path w="5373370" h="2887980">
                  <a:moveTo>
                    <a:pt x="5373370" y="621030"/>
                  </a:moveTo>
                  <a:cubicBezTo>
                    <a:pt x="5373370" y="963930"/>
                    <a:pt x="5095240" y="1242060"/>
                    <a:pt x="4752340" y="1242060"/>
                  </a:cubicBezTo>
                  <a:lnTo>
                    <a:pt x="3628390" y="1242060"/>
                  </a:lnTo>
                  <a:cubicBezTo>
                    <a:pt x="3602990" y="1242060"/>
                    <a:pt x="3582670" y="1263650"/>
                    <a:pt x="3582670" y="1289050"/>
                  </a:cubicBezTo>
                  <a:cubicBezTo>
                    <a:pt x="3582670" y="1380490"/>
                    <a:pt x="3562350" y="1466850"/>
                    <a:pt x="3528060" y="1545590"/>
                  </a:cubicBezTo>
                  <a:cubicBezTo>
                    <a:pt x="3506470" y="1592580"/>
                    <a:pt x="3540760" y="1645920"/>
                    <a:pt x="3592830" y="1645920"/>
                  </a:cubicBezTo>
                  <a:cubicBezTo>
                    <a:pt x="3935730" y="1645920"/>
                    <a:pt x="4213860" y="1924050"/>
                    <a:pt x="4213860" y="2266950"/>
                  </a:cubicBezTo>
                  <a:cubicBezTo>
                    <a:pt x="4213860" y="2609850"/>
                    <a:pt x="3935730" y="2887980"/>
                    <a:pt x="3592830" y="2887980"/>
                  </a:cubicBezTo>
                  <a:lnTo>
                    <a:pt x="1252220" y="2887980"/>
                  </a:lnTo>
                  <a:cubicBezTo>
                    <a:pt x="909320" y="2887980"/>
                    <a:pt x="631190" y="2609850"/>
                    <a:pt x="631190" y="2266950"/>
                  </a:cubicBezTo>
                  <a:cubicBezTo>
                    <a:pt x="631190" y="2175510"/>
                    <a:pt x="651510" y="2089150"/>
                    <a:pt x="685800" y="2010410"/>
                  </a:cubicBezTo>
                  <a:cubicBezTo>
                    <a:pt x="707390" y="1963420"/>
                    <a:pt x="673100" y="1910080"/>
                    <a:pt x="621030" y="1910080"/>
                  </a:cubicBezTo>
                  <a:cubicBezTo>
                    <a:pt x="278130" y="1910080"/>
                    <a:pt x="0" y="1631950"/>
                    <a:pt x="0" y="1289050"/>
                  </a:cubicBezTo>
                  <a:cubicBezTo>
                    <a:pt x="0" y="946150"/>
                    <a:pt x="278130" y="668020"/>
                    <a:pt x="621030" y="668020"/>
                  </a:cubicBezTo>
                  <a:lnTo>
                    <a:pt x="1744980" y="668020"/>
                  </a:lnTo>
                  <a:cubicBezTo>
                    <a:pt x="1770380" y="668020"/>
                    <a:pt x="1790700" y="647700"/>
                    <a:pt x="1790700" y="622300"/>
                  </a:cubicBezTo>
                  <a:lnTo>
                    <a:pt x="1790700" y="621030"/>
                  </a:lnTo>
                  <a:cubicBezTo>
                    <a:pt x="1790700" y="278130"/>
                    <a:pt x="2068830" y="0"/>
                    <a:pt x="2411730" y="0"/>
                  </a:cubicBezTo>
                  <a:lnTo>
                    <a:pt x="4751070" y="0"/>
                  </a:lnTo>
                  <a:cubicBezTo>
                    <a:pt x="5095240" y="0"/>
                    <a:pt x="5373370" y="278130"/>
                    <a:pt x="5373370" y="621030"/>
                  </a:cubicBezTo>
                  <a:close/>
                </a:path>
              </a:pathLst>
            </a:custGeom>
            <a:blipFill>
              <a:blip r:embed="rId4"/>
              <a:stretch>
                <a:fillRect t="-17426" b="-22118"/>
              </a:stretch>
            </a:blipFill>
          </p:spPr>
          <p:txBody>
            <a:bodyPr/>
            <a:lstStyle/>
            <a:p>
              <a:endParaRPr lang="en-IN"/>
            </a:p>
          </p:txBody>
        </p:sp>
      </p:grpSp>
      <p:grpSp>
        <p:nvGrpSpPr>
          <p:cNvPr id="5" name="Group 5"/>
          <p:cNvGrpSpPr/>
          <p:nvPr/>
        </p:nvGrpSpPr>
        <p:grpSpPr>
          <a:xfrm>
            <a:off x="-1136521" y="3307946"/>
            <a:ext cx="2594369" cy="4588246"/>
            <a:chOff x="0" y="0"/>
            <a:chExt cx="683291" cy="1208427"/>
          </a:xfrm>
        </p:grpSpPr>
        <p:sp>
          <p:nvSpPr>
            <p:cNvPr id="6" name="Freeform 6"/>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txBody>
            <a:bodyPr/>
            <a:lstStyle/>
            <a:p>
              <a:endParaRPr lang="en-IN"/>
            </a:p>
          </p:txBody>
        </p:sp>
        <p:sp>
          <p:nvSpPr>
            <p:cNvPr id="7" name="TextBox 7"/>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13469396" y="1259637"/>
            <a:ext cx="3789904" cy="665701"/>
            <a:chOff x="0" y="0"/>
            <a:chExt cx="998164" cy="175329"/>
          </a:xfrm>
        </p:grpSpPr>
        <p:sp>
          <p:nvSpPr>
            <p:cNvPr id="9" name="Freeform 9"/>
            <p:cNvSpPr/>
            <p:nvPr/>
          </p:nvSpPr>
          <p:spPr>
            <a:xfrm>
              <a:off x="0" y="0"/>
              <a:ext cx="998164" cy="175329"/>
            </a:xfrm>
            <a:custGeom>
              <a:avLst/>
              <a:gdLst/>
              <a:ahLst/>
              <a:cxnLst/>
              <a:rect l="l" t="t" r="r" b="b"/>
              <a:pathLst>
                <a:path w="998164" h="175329">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3A577B"/>
            </a:solidFill>
          </p:spPr>
          <p:txBody>
            <a:bodyPr/>
            <a:lstStyle/>
            <a:p>
              <a:endParaRPr lang="en-IN"/>
            </a:p>
          </p:txBody>
        </p:sp>
        <p:sp>
          <p:nvSpPr>
            <p:cNvPr id="10" name="TextBox 10"/>
            <p:cNvSpPr txBox="1"/>
            <p:nvPr/>
          </p:nvSpPr>
          <p:spPr>
            <a:xfrm>
              <a:off x="0" y="-47625"/>
              <a:ext cx="998164" cy="222954"/>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3" name="Freeform 13"/>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5" name="Freeform 15"/>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16" name="TextBox 16"/>
          <p:cNvSpPr txBox="1"/>
          <p:nvPr/>
        </p:nvSpPr>
        <p:spPr>
          <a:xfrm>
            <a:off x="2412807" y="3028963"/>
            <a:ext cx="9734623" cy="3231654"/>
          </a:xfrm>
          <a:prstGeom prst="rect">
            <a:avLst/>
          </a:prstGeom>
        </p:spPr>
        <p:txBody>
          <a:bodyPr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E-COMMERSE INSIGHTS</a:t>
            </a:r>
          </a:p>
        </p:txBody>
      </p:sp>
      <p:sp>
        <p:nvSpPr>
          <p:cNvPr id="17" name="TextBox 17"/>
          <p:cNvSpPr txBox="1"/>
          <p:nvPr/>
        </p:nvSpPr>
        <p:spPr>
          <a:xfrm>
            <a:off x="2403282" y="6504405"/>
            <a:ext cx="9274515" cy="1973554"/>
          </a:xfrm>
          <a:prstGeom prst="rect">
            <a:avLst/>
          </a:prstGeom>
        </p:spPr>
        <p:txBody>
          <a:bodyPr lIns="0" tIns="0" rIns="0" bIns="0" rtlCol="0" anchor="t">
            <a:spAutoFit/>
          </a:bodyPr>
          <a:lstStyle/>
          <a:p>
            <a:pPr algn="l">
              <a:lnSpc>
                <a:spcPts val="5240"/>
              </a:lnSpc>
            </a:pPr>
            <a:r>
              <a:rPr lang="en-US" sz="4000" b="1" dirty="0">
                <a:solidFill>
                  <a:srgbClr val="021828"/>
                </a:solidFill>
                <a:latin typeface="Akzidenz-Grotesk Heavy"/>
                <a:ea typeface="Akzidenz-Grotesk Heavy"/>
                <a:cs typeface="Akzidenz-Grotesk Heavy"/>
                <a:sym typeface="Akzidenz-Grotesk Heavy"/>
              </a:rPr>
              <a:t>Insights into Sales, Analysis, and Market trends at a glance.</a:t>
            </a:r>
          </a:p>
          <a:p>
            <a:pPr algn="l">
              <a:lnSpc>
                <a:spcPts val="5240"/>
              </a:lnSpc>
            </a:pPr>
            <a:endParaRPr lang="en-US" sz="4000" b="1" dirty="0">
              <a:solidFill>
                <a:srgbClr val="021828"/>
              </a:solidFill>
              <a:latin typeface="Akzidenz-Grotesk Heavy"/>
              <a:ea typeface="Akzidenz-Grotesk Heavy"/>
              <a:cs typeface="Akzidenz-Grotesk Heavy"/>
              <a:sym typeface="Akzidenz-Grotesk Heavy"/>
            </a:endParaRPr>
          </a:p>
        </p:txBody>
      </p:sp>
      <p:sp>
        <p:nvSpPr>
          <p:cNvPr id="18" name="TextBox 18"/>
          <p:cNvSpPr txBox="1"/>
          <p:nvPr/>
        </p:nvSpPr>
        <p:spPr>
          <a:xfrm>
            <a:off x="13936213" y="1335015"/>
            <a:ext cx="4351787" cy="495894"/>
          </a:xfrm>
          <a:prstGeom prst="rect">
            <a:avLst/>
          </a:prstGeom>
        </p:spPr>
        <p:txBody>
          <a:bodyPr lIns="0" tIns="0" rIns="0" bIns="0" rtlCol="0" anchor="t">
            <a:spAutoFit/>
          </a:bodyPr>
          <a:lstStyle/>
          <a:p>
            <a:pPr algn="l">
              <a:lnSpc>
                <a:spcPts val="3997"/>
              </a:lnSpc>
            </a:pPr>
            <a:r>
              <a:rPr lang="en-US" sz="3147">
                <a:solidFill>
                  <a:srgbClr val="FFFFFF"/>
                </a:solidFill>
                <a:latin typeface="Norwester"/>
                <a:ea typeface="Norwester"/>
                <a:cs typeface="Norwester"/>
                <a:sym typeface="Norwester"/>
              </a:rPr>
              <a:t>TEAM ACHIEVERS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028700" y="4392170"/>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txBody>
            <a:bodyPr/>
            <a:lstStyle/>
            <a:p>
              <a:endParaRPr lang="en-IN"/>
            </a:p>
          </p:txBody>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028700" y="1689442"/>
            <a:ext cx="5650143" cy="565014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6838" r="-63489"/>
              </a:stretch>
            </a:blipFill>
          </p:spPr>
          <p:txBody>
            <a:bodyPr/>
            <a:lstStyle/>
            <a:p>
              <a:endParaRPr lang="en-IN"/>
            </a:p>
          </p:txBody>
        </p:sp>
      </p:grpSp>
      <p:grpSp>
        <p:nvGrpSpPr>
          <p:cNvPr id="8" name="Group 8"/>
          <p:cNvGrpSpPr/>
          <p:nvPr/>
        </p:nvGrpSpPr>
        <p:grpSpPr>
          <a:xfrm>
            <a:off x="4648406" y="1028700"/>
            <a:ext cx="1858734" cy="18587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txBody>
            <a:bodyPr/>
            <a:lstStyle/>
            <a:p>
              <a:endParaRPr lang="en-IN"/>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2" name="Freeform 12"/>
          <p:cNvSpPr/>
          <p:nvPr/>
        </p:nvSpPr>
        <p:spPr>
          <a:xfrm>
            <a:off x="7558327" y="8124508"/>
            <a:ext cx="2763919" cy="882511"/>
          </a:xfrm>
          <a:custGeom>
            <a:avLst/>
            <a:gdLst/>
            <a:ahLst/>
            <a:cxnLst/>
            <a:rect l="l" t="t" r="r" b="b"/>
            <a:pathLst>
              <a:path w="2763919" h="882511">
                <a:moveTo>
                  <a:pt x="0" y="0"/>
                </a:moveTo>
                <a:lnTo>
                  <a:pt x="2763918" y="0"/>
                </a:lnTo>
                <a:lnTo>
                  <a:pt x="2763918" y="882510"/>
                </a:lnTo>
                <a:lnTo>
                  <a:pt x="0" y="8825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3" name="Freeform 13"/>
          <p:cNvSpPr/>
          <p:nvPr/>
        </p:nvSpPr>
        <p:spPr>
          <a:xfrm>
            <a:off x="10863309" y="85484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15" name="TextBox 15"/>
          <p:cNvSpPr txBox="1"/>
          <p:nvPr/>
        </p:nvSpPr>
        <p:spPr>
          <a:xfrm>
            <a:off x="6962233" y="1094047"/>
            <a:ext cx="6677568" cy="2966581"/>
          </a:xfrm>
          <a:prstGeom prst="rect">
            <a:avLst/>
          </a:prstGeom>
        </p:spPr>
        <p:txBody>
          <a:bodyPr wrap="square" lIns="0" tIns="0" rIns="0" bIns="0" rtlCol="0" anchor="t">
            <a:spAutoFit/>
          </a:bodyPr>
          <a:lstStyle/>
          <a:p>
            <a:pPr algn="l">
              <a:lnSpc>
                <a:spcPts val="7847"/>
              </a:lnSpc>
            </a:pPr>
            <a:r>
              <a:rPr lang="en-US" sz="6179" b="1" dirty="0">
                <a:solidFill>
                  <a:srgbClr val="0E2F5F"/>
                </a:solidFill>
                <a:latin typeface="Akzidenz-Grotesk Heavy"/>
                <a:ea typeface="Akzidenz-Grotesk Heavy"/>
                <a:cs typeface="Akzidenz-Grotesk Heavy"/>
                <a:sym typeface="Akzidenz-Grotesk Heavy"/>
              </a:rPr>
              <a:t>Objective :</a:t>
            </a:r>
          </a:p>
          <a:p>
            <a:pPr algn="l">
              <a:lnSpc>
                <a:spcPts val="7847"/>
              </a:lnSpc>
            </a:pPr>
            <a:endParaRPr lang="en-US" sz="6179" b="1" dirty="0">
              <a:solidFill>
                <a:srgbClr val="0E2F5F"/>
              </a:solidFill>
              <a:latin typeface="Akzidenz-Grotesk Heavy"/>
              <a:ea typeface="Akzidenz-Grotesk Heavy"/>
              <a:cs typeface="Akzidenz-Grotesk Heavy"/>
              <a:sym typeface="Akzidenz-Grotesk Heavy"/>
            </a:endParaRPr>
          </a:p>
          <a:p>
            <a:pPr algn="l">
              <a:lnSpc>
                <a:spcPts val="7847"/>
              </a:lnSpc>
            </a:pPr>
            <a:endParaRPr lang="en-US" sz="6179" b="1" dirty="0">
              <a:solidFill>
                <a:srgbClr val="0E2F5F"/>
              </a:solidFill>
              <a:latin typeface="Akzidenz-Grotesk Heavy"/>
              <a:ea typeface="Akzidenz-Grotesk Heavy"/>
              <a:cs typeface="Akzidenz-Grotesk Heavy"/>
              <a:sym typeface="Akzidenz-Grotesk Heavy"/>
            </a:endParaRPr>
          </a:p>
        </p:txBody>
      </p:sp>
      <p:sp>
        <p:nvSpPr>
          <p:cNvPr id="16" name="Freeform 16"/>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7" name="TextBox 17"/>
          <p:cNvSpPr txBox="1"/>
          <p:nvPr/>
        </p:nvSpPr>
        <p:spPr>
          <a:xfrm>
            <a:off x="7556735" y="2628901"/>
            <a:ext cx="7759465" cy="5768887"/>
          </a:xfrm>
          <a:prstGeom prst="rect">
            <a:avLst/>
          </a:prstGeom>
        </p:spPr>
        <p:txBody>
          <a:bodyPr wrap="square" lIns="0" tIns="0" rIns="0" bIns="0" rtlCol="0" anchor="t">
            <a:spAutoFit/>
          </a:bodyPr>
          <a:lstStyle/>
          <a:p>
            <a:r>
              <a:rPr lang="en-US" sz="2000" dirty="0">
                <a:latin typeface="Aileron Bold" panose="020B0604020202020204" charset="0"/>
              </a:rPr>
              <a:t>The purpose of an e‑commerce ML model focused on customer prediction is to anticipate what each customer will do next so businesses can act proactively to grow revenue, improve retention, and cut risk.</a:t>
            </a:r>
          </a:p>
          <a:p>
            <a:br>
              <a:rPr lang="en-US" sz="2000" dirty="0">
                <a:latin typeface="Aileron Bold" panose="020B0604020202020204" charset="0"/>
              </a:rPr>
            </a:br>
            <a:endParaRPr lang="en-US" sz="2000" b="1" dirty="0">
              <a:solidFill>
                <a:srgbClr val="021828"/>
              </a:solidFill>
              <a:latin typeface="Aileron Bold" panose="020B0604020202020204" charset="0"/>
              <a:ea typeface="Aileron Bold"/>
              <a:cs typeface="Aileron Bold"/>
              <a:sym typeface="Aileron Bold"/>
            </a:endParaRPr>
          </a:p>
          <a:p>
            <a:pPr algn="just">
              <a:lnSpc>
                <a:spcPts val="3080"/>
              </a:lnSpc>
            </a:pPr>
            <a:r>
              <a:rPr lang="en-US" sz="2000" b="1" dirty="0">
                <a:solidFill>
                  <a:srgbClr val="021828"/>
                </a:solidFill>
                <a:latin typeface="Aileron Bold" panose="020B0604020202020204" charset="0"/>
                <a:ea typeface="Aileron Bold"/>
                <a:cs typeface="Aileron Bold"/>
                <a:sym typeface="Aileron Bold"/>
              </a:rPr>
              <a:t>This helps to:</a:t>
            </a:r>
          </a:p>
          <a:p>
            <a:pPr marL="342900" indent="-342900">
              <a:buFont typeface="Arial" panose="020B0604020202020204" pitchFamily="34" charset="0"/>
              <a:buChar char="•"/>
            </a:pPr>
            <a:r>
              <a:rPr lang="en-US" sz="2000" dirty="0">
                <a:latin typeface="Aileron Bold" panose="020B0604020202020204" charset="0"/>
              </a:rPr>
              <a:t>Purchase likelihood: probability a customer will buy in a given window, enabling targeted offers and reminders.\</a:t>
            </a:r>
          </a:p>
          <a:p>
            <a:endParaRPr lang="en-US" sz="2000" dirty="0">
              <a:latin typeface="Aileron Bold" panose="020B0604020202020204" charset="0"/>
            </a:endParaRPr>
          </a:p>
          <a:p>
            <a:pPr marL="342900" indent="-342900">
              <a:buFont typeface="Arial" panose="020B0604020202020204" pitchFamily="34" charset="0"/>
              <a:buChar char="•"/>
            </a:pPr>
            <a:r>
              <a:rPr lang="en-US" sz="2000" dirty="0">
                <a:latin typeface="Aileron Bold" panose="020B0604020202020204" charset="0"/>
              </a:rPr>
              <a:t>Next‑best‑action/product: personalized recommendations based on behavior, preferences, and context.</a:t>
            </a:r>
          </a:p>
          <a:p>
            <a:endParaRPr lang="en-US" sz="2000" dirty="0">
              <a:latin typeface="Aileron Bold" panose="020B0604020202020204" charset="0"/>
            </a:endParaRPr>
          </a:p>
          <a:p>
            <a:pPr marL="342900" indent="-342900">
              <a:buFont typeface="Arial" panose="020B0604020202020204" pitchFamily="34" charset="0"/>
              <a:buChar char="•"/>
            </a:pPr>
            <a:r>
              <a:rPr lang="en-US" sz="2000" dirty="0">
                <a:latin typeface="Aileron Bold" panose="020B0604020202020204" charset="0"/>
              </a:rPr>
              <a:t>Customer lifetime value (CLV): expected long‑term revenue per customer to guide budget and priority.</a:t>
            </a:r>
          </a:p>
          <a:p>
            <a:pPr marL="342900" indent="-342900">
              <a:buFont typeface="Arial" panose="020B0604020202020204" pitchFamily="34" charset="0"/>
              <a:buChar char="•"/>
            </a:pPr>
            <a:endParaRPr lang="en-US" sz="2000" dirty="0">
              <a:latin typeface="Aileron Bold" panose="020B0604020202020204" charset="0"/>
            </a:endParaRPr>
          </a:p>
          <a:p>
            <a:pPr algn="just">
              <a:lnSpc>
                <a:spcPts val="3080"/>
              </a:lnSpc>
            </a:pPr>
            <a:endParaRPr lang="en-US" sz="2000" b="1" dirty="0">
              <a:solidFill>
                <a:srgbClr val="021828"/>
              </a:solidFill>
              <a:latin typeface="Aileron Bold" panose="020B0604020202020204" charset="0"/>
              <a:ea typeface="Aileron Bold"/>
              <a:cs typeface="Aileron Bold"/>
              <a:sym typeface="Aileron Bold"/>
            </a:endParaRPr>
          </a:p>
          <a:p>
            <a:pPr algn="just">
              <a:lnSpc>
                <a:spcPts val="3080"/>
              </a:lnSpc>
            </a:pPr>
            <a:endParaRPr lang="en-US" sz="2000" b="1" dirty="0">
              <a:solidFill>
                <a:srgbClr val="021828"/>
              </a:solidFill>
              <a:latin typeface="Aileron Bold" panose="020B0604020202020204" charset="0"/>
              <a:ea typeface="Aileron Bold"/>
              <a:cs typeface="Aileron Bold"/>
              <a:sym typeface="Aileron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4848550" y="2782372"/>
            <a:ext cx="4829892" cy="5894830"/>
            <a:chOff x="0" y="0"/>
            <a:chExt cx="1272070" cy="1552548"/>
          </a:xfrm>
        </p:grpSpPr>
        <p:sp>
          <p:nvSpPr>
            <p:cNvPr id="6" name="Freeform 6"/>
            <p:cNvSpPr/>
            <p:nvPr/>
          </p:nvSpPr>
          <p:spPr>
            <a:xfrm>
              <a:off x="0" y="0"/>
              <a:ext cx="1272070" cy="1552548"/>
            </a:xfrm>
            <a:custGeom>
              <a:avLst/>
              <a:gdLst/>
              <a:ahLst/>
              <a:cxnLst/>
              <a:rect l="l" t="t" r="r" b="b"/>
              <a:pathLst>
                <a:path w="1272070" h="1552548">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txBody>
            <a:bodyPr/>
            <a:lstStyle/>
            <a:p>
              <a:endParaRPr lang="en-IN"/>
            </a:p>
          </p:txBody>
        </p:sp>
        <p:sp>
          <p:nvSpPr>
            <p:cNvPr id="7" name="TextBox 7"/>
            <p:cNvSpPr txBox="1"/>
            <p:nvPr/>
          </p:nvSpPr>
          <p:spPr>
            <a:xfrm>
              <a:off x="0" y="-47625"/>
              <a:ext cx="1272070" cy="1600173"/>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8988558" y="6159110"/>
            <a:ext cx="8270742" cy="3510110"/>
            <a:chOff x="0" y="0"/>
            <a:chExt cx="1281354" cy="543808"/>
          </a:xfrm>
        </p:grpSpPr>
        <p:sp>
          <p:nvSpPr>
            <p:cNvPr id="9" name="Freeform 9"/>
            <p:cNvSpPr/>
            <p:nvPr/>
          </p:nvSpPr>
          <p:spPr>
            <a:xfrm>
              <a:off x="0" y="0"/>
              <a:ext cx="1281354" cy="543808"/>
            </a:xfrm>
            <a:custGeom>
              <a:avLst/>
              <a:gdLst/>
              <a:ahLst/>
              <a:cxnLst/>
              <a:rect l="l" t="t" r="r" b="b"/>
              <a:pathLst>
                <a:path w="1281354" h="543808">
                  <a:moveTo>
                    <a:pt x="14977" y="0"/>
                  </a:moveTo>
                  <a:lnTo>
                    <a:pt x="1266377" y="0"/>
                  </a:lnTo>
                  <a:cubicBezTo>
                    <a:pt x="1274649" y="0"/>
                    <a:pt x="1281354" y="6705"/>
                    <a:pt x="1281354" y="14977"/>
                  </a:cubicBezTo>
                  <a:lnTo>
                    <a:pt x="1281354" y="528831"/>
                  </a:lnTo>
                  <a:cubicBezTo>
                    <a:pt x="1281354" y="537102"/>
                    <a:pt x="1274649" y="543808"/>
                    <a:pt x="1266377" y="543808"/>
                  </a:cubicBezTo>
                  <a:lnTo>
                    <a:pt x="14977" y="543808"/>
                  </a:lnTo>
                  <a:cubicBezTo>
                    <a:pt x="6705" y="543808"/>
                    <a:pt x="0" y="537102"/>
                    <a:pt x="0" y="528831"/>
                  </a:cubicBezTo>
                  <a:lnTo>
                    <a:pt x="0" y="14977"/>
                  </a:lnTo>
                  <a:cubicBezTo>
                    <a:pt x="0" y="6705"/>
                    <a:pt x="6705" y="0"/>
                    <a:pt x="14977" y="0"/>
                  </a:cubicBezTo>
                  <a:close/>
                </a:path>
              </a:pathLst>
            </a:custGeom>
            <a:blipFill>
              <a:blip r:embed="rId2"/>
              <a:stretch>
                <a:fillRect t="-28493" b="-28493"/>
              </a:stretch>
            </a:blipFill>
          </p:spPr>
          <p:txBody>
            <a:bodyPr/>
            <a:lstStyle/>
            <a:p>
              <a:endParaRPr lang="en-IN"/>
            </a:p>
          </p:txBody>
        </p:sp>
      </p:grpSp>
      <p:sp>
        <p:nvSpPr>
          <p:cNvPr id="10" name="Freeform 10"/>
          <p:cNvSpPr/>
          <p:nvPr/>
        </p:nvSpPr>
        <p:spPr>
          <a:xfrm>
            <a:off x="14848550" y="1944578"/>
            <a:ext cx="1226460" cy="379088"/>
          </a:xfrm>
          <a:custGeom>
            <a:avLst/>
            <a:gdLst/>
            <a:ahLst/>
            <a:cxnLst/>
            <a:rect l="l" t="t" r="r" b="b"/>
            <a:pathLst>
              <a:path w="1226460" h="379088">
                <a:moveTo>
                  <a:pt x="0" y="0"/>
                </a:moveTo>
                <a:lnTo>
                  <a:pt x="1226460" y="0"/>
                </a:lnTo>
                <a:lnTo>
                  <a:pt x="1226460" y="379087"/>
                </a:lnTo>
                <a:lnTo>
                  <a:pt x="0" y="37908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16298985" y="1028700"/>
            <a:ext cx="960315" cy="960315"/>
          </a:xfrm>
          <a:custGeom>
            <a:avLst/>
            <a:gdLst/>
            <a:ahLst/>
            <a:cxnLst/>
            <a:rect l="l" t="t" r="r" b="b"/>
            <a:pathLst>
              <a:path w="960315" h="960315">
                <a:moveTo>
                  <a:pt x="0" y="0"/>
                </a:moveTo>
                <a:lnTo>
                  <a:pt x="960315" y="0"/>
                </a:lnTo>
                <a:lnTo>
                  <a:pt x="960315" y="960315"/>
                </a:lnTo>
                <a:lnTo>
                  <a:pt x="0" y="96031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33" name="TextBox 33"/>
          <p:cNvSpPr txBox="1"/>
          <p:nvPr/>
        </p:nvSpPr>
        <p:spPr>
          <a:xfrm>
            <a:off x="966053" y="904875"/>
            <a:ext cx="7075535" cy="834517"/>
          </a:xfrm>
          <a:prstGeom prst="rect">
            <a:avLst/>
          </a:prstGeom>
        </p:spPr>
        <p:txBody>
          <a:bodyPr lIns="0" tIns="0" rIns="0" bIns="0" rtlCol="0" anchor="t">
            <a:spAutoFit/>
          </a:bodyPr>
          <a:lstStyle/>
          <a:p>
            <a:pPr algn="l">
              <a:lnSpc>
                <a:spcPts val="5969"/>
              </a:lnSpc>
            </a:pPr>
            <a:r>
              <a:rPr lang="en-US" sz="4700" b="1" dirty="0">
                <a:solidFill>
                  <a:srgbClr val="0E2F5F"/>
                </a:solidFill>
                <a:latin typeface="Akzidenz-Grotesk Heavy"/>
                <a:ea typeface="Akzidenz-Grotesk Heavy"/>
                <a:cs typeface="Akzidenz-Grotesk Heavy"/>
                <a:sym typeface="Akzidenz-Grotesk Heavy"/>
              </a:rPr>
              <a:t>Dataset Overview</a:t>
            </a:r>
          </a:p>
        </p:txBody>
      </p:sp>
      <p:sp>
        <p:nvSpPr>
          <p:cNvPr id="36" name="TextBox 36"/>
          <p:cNvSpPr txBox="1"/>
          <p:nvPr/>
        </p:nvSpPr>
        <p:spPr>
          <a:xfrm>
            <a:off x="460672" y="2986613"/>
            <a:ext cx="3096040" cy="574902"/>
          </a:xfrm>
          <a:prstGeom prst="rect">
            <a:avLst/>
          </a:prstGeom>
        </p:spPr>
        <p:txBody>
          <a:bodyPr lIns="0" tIns="0" rIns="0" bIns="0" rtlCol="0" anchor="t">
            <a:spAutoFit/>
          </a:bodyPr>
          <a:lstStyle/>
          <a:p>
            <a:pPr algn="just">
              <a:lnSpc>
                <a:spcPts val="4659"/>
              </a:lnSpc>
            </a:pPr>
            <a:r>
              <a:rPr lang="en-US" sz="3327">
                <a:solidFill>
                  <a:srgbClr val="0E2F5F"/>
                </a:solidFill>
                <a:latin typeface="Archivo Black"/>
                <a:ea typeface="Archivo Black"/>
                <a:cs typeface="Archivo Black"/>
                <a:sym typeface="Archivo Black"/>
              </a:rPr>
              <a:t>Key Fields:</a:t>
            </a:r>
          </a:p>
        </p:txBody>
      </p:sp>
      <p:sp>
        <p:nvSpPr>
          <p:cNvPr id="54" name="TextBox 53">
            <a:extLst>
              <a:ext uri="{FF2B5EF4-FFF2-40B4-BE49-F238E27FC236}">
                <a16:creationId xmlns:a16="http://schemas.microsoft.com/office/drawing/2014/main" id="{D85EC9DA-35A3-2B82-776C-B2BD24057F65}"/>
              </a:ext>
            </a:extLst>
          </p:cNvPr>
          <p:cNvSpPr txBox="1"/>
          <p:nvPr/>
        </p:nvSpPr>
        <p:spPr>
          <a:xfrm>
            <a:off x="685800" y="3848100"/>
            <a:ext cx="7772400" cy="5693866"/>
          </a:xfrm>
          <a:prstGeom prst="rect">
            <a:avLst/>
          </a:prstGeom>
          <a:noFill/>
        </p:spPr>
        <p:txBody>
          <a:bodyPr wrap="square" rtlCol="0">
            <a:spAutoFit/>
          </a:bodyPr>
          <a:lstStyle/>
          <a:p>
            <a:pPr marL="342900" indent="-342900">
              <a:buFont typeface="Wingdings" panose="05000000000000000000" pitchFamily="2" charset="2"/>
              <a:buChar char="§"/>
            </a:pPr>
            <a:r>
              <a:rPr lang="en-US" sz="2800" dirty="0">
                <a:latin typeface="Aileron Bold" panose="020B0604020202020204" charset="0"/>
              </a:rPr>
              <a:t>Analyzed e‑commerce sales across Indian cities (Mumbai, Pune, Varanasi, Bengaluru, New Delhi) to track revenue, discounts, customer segments, and regional patterns.</a:t>
            </a:r>
          </a:p>
          <a:p>
            <a:pPr marL="342900" indent="-342900">
              <a:buFont typeface="Wingdings" panose="05000000000000000000" pitchFamily="2" charset="2"/>
              <a:buChar char="§"/>
            </a:pPr>
            <a:endParaRPr lang="en-US" sz="2800" dirty="0">
              <a:latin typeface="Aileron Bold" panose="020B0604020202020204" charset="0"/>
            </a:endParaRPr>
          </a:p>
          <a:p>
            <a:endParaRPr lang="en-US" sz="2800" dirty="0">
              <a:latin typeface="Aileron Bold" panose="020B0604020202020204" charset="0"/>
            </a:endParaRPr>
          </a:p>
          <a:p>
            <a:endParaRPr lang="en-US" sz="2800" dirty="0">
              <a:latin typeface="Aileron Bold" panose="020B0604020202020204" charset="0"/>
            </a:endParaRPr>
          </a:p>
          <a:p>
            <a:pPr marL="342900" indent="-342900">
              <a:buFont typeface="Wingdings" panose="05000000000000000000" pitchFamily="2" charset="2"/>
              <a:buChar char="§"/>
            </a:pPr>
            <a:r>
              <a:rPr lang="en-US" sz="2800" dirty="0">
                <a:latin typeface="Aileron Bold" panose="020B0604020202020204" charset="0"/>
              </a:rPr>
              <a:t>Built interactive sales dashboards in Excel (with PivotTables, </a:t>
            </a:r>
            <a:r>
              <a:rPr lang="en-US" sz="2800" dirty="0" err="1">
                <a:latin typeface="Aileron Bold" panose="020B0604020202020204" charset="0"/>
              </a:rPr>
              <a:t>PivotCharts</a:t>
            </a:r>
            <a:r>
              <a:rPr lang="en-US" sz="2800" dirty="0">
                <a:latin typeface="Aileron Bold" panose="020B0604020202020204" charset="0"/>
              </a:rPr>
              <a:t>, slicers), plus companion dashboards in Tableau and Power BI for comparison and distribution.</a:t>
            </a:r>
          </a:p>
          <a:p>
            <a:endParaRPr lang="en-US" sz="2800" dirty="0">
              <a:latin typeface="Aileron Bold" panose="020B0604020202020204" charset="0"/>
            </a:endParaRPr>
          </a:p>
        </p:txBody>
      </p:sp>
      <p:sp>
        <p:nvSpPr>
          <p:cNvPr id="55" name="TextBox 54">
            <a:extLst>
              <a:ext uri="{FF2B5EF4-FFF2-40B4-BE49-F238E27FC236}">
                <a16:creationId xmlns:a16="http://schemas.microsoft.com/office/drawing/2014/main" id="{02151746-3891-DAE4-4C9B-F6064354A6F1}"/>
              </a:ext>
            </a:extLst>
          </p:cNvPr>
          <p:cNvSpPr txBox="1"/>
          <p:nvPr/>
        </p:nvSpPr>
        <p:spPr>
          <a:xfrm>
            <a:off x="8690136" y="3274064"/>
            <a:ext cx="6166375" cy="3108543"/>
          </a:xfrm>
          <a:prstGeom prst="rect">
            <a:avLst/>
          </a:prstGeom>
          <a:noFill/>
        </p:spPr>
        <p:txBody>
          <a:bodyPr wrap="square" rtlCol="0">
            <a:spAutoFit/>
          </a:bodyPr>
          <a:lstStyle/>
          <a:p>
            <a:endParaRPr lang="en-US" sz="2800" dirty="0">
              <a:latin typeface="Aileron Bold" panose="020B0604020202020204" charset="0"/>
            </a:endParaRPr>
          </a:p>
          <a:p>
            <a:pPr marL="342900" indent="-342900">
              <a:buFont typeface="Wingdings" panose="05000000000000000000" pitchFamily="2" charset="2"/>
              <a:buChar char="§"/>
            </a:pPr>
            <a:r>
              <a:rPr lang="en-US" sz="2800" dirty="0">
                <a:latin typeface="Aileron Bold" panose="020B0604020202020204" charset="0"/>
              </a:rPr>
              <a:t>Developed a machine learning model to predict monthly sales and promotion impact to support inventory planning and marketing allocation.</a:t>
            </a:r>
          </a:p>
          <a:p>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4817" y="1843654"/>
            <a:ext cx="3957127" cy="7190061"/>
            <a:chOff x="0" y="0"/>
            <a:chExt cx="1042206" cy="1893679"/>
          </a:xfrm>
        </p:grpSpPr>
        <p:sp>
          <p:nvSpPr>
            <p:cNvPr id="3" name="Freeform 3"/>
            <p:cNvSpPr/>
            <p:nvPr/>
          </p:nvSpPr>
          <p:spPr>
            <a:xfrm>
              <a:off x="0" y="0"/>
              <a:ext cx="1042206" cy="1893679"/>
            </a:xfrm>
            <a:custGeom>
              <a:avLst/>
              <a:gdLst/>
              <a:ahLst/>
              <a:cxnLst/>
              <a:rect l="l" t="t" r="r" b="b"/>
              <a:pathLst>
                <a:path w="1042206" h="1893679">
                  <a:moveTo>
                    <a:pt x="115431" y="0"/>
                  </a:moveTo>
                  <a:lnTo>
                    <a:pt x="926776" y="0"/>
                  </a:lnTo>
                  <a:cubicBezTo>
                    <a:pt x="990526" y="0"/>
                    <a:pt x="1042206" y="51680"/>
                    <a:pt x="1042206" y="115431"/>
                  </a:cubicBezTo>
                  <a:lnTo>
                    <a:pt x="1042206" y="1778248"/>
                  </a:lnTo>
                  <a:cubicBezTo>
                    <a:pt x="1042206" y="1841999"/>
                    <a:pt x="990526" y="1893679"/>
                    <a:pt x="926776" y="1893679"/>
                  </a:cubicBezTo>
                  <a:lnTo>
                    <a:pt x="115431" y="1893679"/>
                  </a:lnTo>
                  <a:cubicBezTo>
                    <a:pt x="51680" y="1893679"/>
                    <a:pt x="0" y="1841999"/>
                    <a:pt x="0" y="1778248"/>
                  </a:cubicBezTo>
                  <a:lnTo>
                    <a:pt x="0" y="115431"/>
                  </a:lnTo>
                  <a:cubicBezTo>
                    <a:pt x="0" y="51680"/>
                    <a:pt x="51680" y="0"/>
                    <a:pt x="115431" y="0"/>
                  </a:cubicBezTo>
                  <a:close/>
                </a:path>
              </a:pathLst>
            </a:custGeom>
            <a:solidFill>
              <a:srgbClr val="E1EDFC"/>
            </a:solidFill>
            <a:ln cap="rnd">
              <a:noFill/>
              <a:prstDash val="solid"/>
              <a:round/>
            </a:ln>
          </p:spPr>
          <p:txBody>
            <a:bodyPr/>
            <a:lstStyle/>
            <a:p>
              <a:endParaRPr lang="en-IN"/>
            </a:p>
          </p:txBody>
        </p:sp>
        <p:sp>
          <p:nvSpPr>
            <p:cNvPr id="4" name="TextBox 4"/>
            <p:cNvSpPr txBox="1"/>
            <p:nvPr/>
          </p:nvSpPr>
          <p:spPr>
            <a:xfrm>
              <a:off x="0" y="-47625"/>
              <a:ext cx="1042206" cy="1941304"/>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5" name="AutoShape 5"/>
          <p:cNvSpPr/>
          <p:nvPr/>
        </p:nvSpPr>
        <p:spPr>
          <a:xfrm>
            <a:off x="652721" y="2239763"/>
            <a:ext cx="0" cy="9299815"/>
          </a:xfrm>
          <a:prstGeom prst="line">
            <a:avLst/>
          </a:prstGeom>
          <a:ln w="38100" cap="flat">
            <a:solidFill>
              <a:srgbClr val="5188CC"/>
            </a:solidFill>
            <a:prstDash val="solid"/>
            <a:headEnd type="none" w="sm" len="sm"/>
            <a:tailEnd type="none" w="sm" len="sm"/>
          </a:ln>
        </p:spPr>
        <p:txBody>
          <a:bodyPr/>
          <a:lstStyle/>
          <a:p>
            <a:endParaRPr lang="en-IN"/>
          </a:p>
        </p:txBody>
      </p:sp>
      <p:grpSp>
        <p:nvGrpSpPr>
          <p:cNvPr id="6" name="Group 6"/>
          <p:cNvGrpSpPr/>
          <p:nvPr/>
        </p:nvGrpSpPr>
        <p:grpSpPr>
          <a:xfrm>
            <a:off x="238642" y="1992314"/>
            <a:ext cx="790058" cy="79005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486091" y="2239763"/>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4044420" y="-1848214"/>
            <a:ext cx="3691868" cy="3691868"/>
          </a:xfrm>
          <a:custGeom>
            <a:avLst/>
            <a:gdLst/>
            <a:ahLst/>
            <a:cxnLst/>
            <a:rect l="l" t="t" r="r" b="b"/>
            <a:pathLst>
              <a:path w="3691868" h="3691868">
                <a:moveTo>
                  <a:pt x="0" y="0"/>
                </a:moveTo>
                <a:lnTo>
                  <a:pt x="3691867" y="0"/>
                </a:lnTo>
                <a:lnTo>
                  <a:pt x="3691867" y="3691868"/>
                </a:lnTo>
                <a:lnTo>
                  <a:pt x="0" y="36918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a:off x="3396943" y="1028700"/>
            <a:ext cx="647477" cy="647477"/>
          </a:xfrm>
          <a:custGeom>
            <a:avLst/>
            <a:gdLst/>
            <a:ahLst/>
            <a:cxnLst/>
            <a:rect l="l" t="t" r="r" b="b"/>
            <a:pathLst>
              <a:path w="647477" h="647477">
                <a:moveTo>
                  <a:pt x="0" y="0"/>
                </a:moveTo>
                <a:lnTo>
                  <a:pt x="647477" y="0"/>
                </a:lnTo>
                <a:lnTo>
                  <a:pt x="647477" y="647477"/>
                </a:lnTo>
                <a:lnTo>
                  <a:pt x="0" y="6474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3" name="TextBox 13"/>
          <p:cNvSpPr txBox="1"/>
          <p:nvPr/>
        </p:nvSpPr>
        <p:spPr>
          <a:xfrm>
            <a:off x="9677527" y="731805"/>
            <a:ext cx="7710675" cy="944372"/>
          </a:xfrm>
          <a:prstGeom prst="rect">
            <a:avLst/>
          </a:prstGeom>
        </p:spPr>
        <p:txBody>
          <a:bodyPr lIns="0" tIns="0" rIns="0" bIns="0" rtlCol="0" anchor="t">
            <a:spAutoFit/>
          </a:bodyPr>
          <a:lstStyle/>
          <a:p>
            <a:pPr marL="0" lvl="0" indent="0" algn="r">
              <a:lnSpc>
                <a:spcPts val="6603"/>
              </a:lnSpc>
              <a:spcBef>
                <a:spcPct val="0"/>
              </a:spcBef>
            </a:pPr>
            <a:r>
              <a:rPr lang="en-US" sz="5199" b="1">
                <a:solidFill>
                  <a:srgbClr val="0E2F5F"/>
                </a:solidFill>
                <a:latin typeface="Akzidenz-Grotesk Heavy"/>
                <a:ea typeface="Akzidenz-Grotesk Heavy"/>
                <a:cs typeface="Akzidenz-Grotesk Heavy"/>
                <a:sym typeface="Akzidenz-Grotesk Heavy"/>
              </a:rPr>
              <a:t>Ex</a:t>
            </a:r>
            <a:r>
              <a:rPr lang="en-US" sz="5199" b="1" u="none" strike="noStrike">
                <a:solidFill>
                  <a:srgbClr val="0E2F5F"/>
                </a:solidFill>
                <a:latin typeface="Akzidenz-Grotesk Heavy"/>
                <a:ea typeface="Akzidenz-Grotesk Heavy"/>
                <a:cs typeface="Akzidenz-Grotesk Heavy"/>
                <a:sym typeface="Akzidenz-Grotesk Heavy"/>
              </a:rPr>
              <a:t>cel Dashboard</a:t>
            </a:r>
          </a:p>
        </p:txBody>
      </p:sp>
      <p:sp>
        <p:nvSpPr>
          <p:cNvPr id="14" name="TextBox 14"/>
          <p:cNvSpPr txBox="1"/>
          <p:nvPr/>
        </p:nvSpPr>
        <p:spPr>
          <a:xfrm>
            <a:off x="189082" y="1263335"/>
            <a:ext cx="2866620" cy="481329"/>
          </a:xfrm>
          <a:prstGeom prst="rect">
            <a:avLst/>
          </a:prstGeom>
        </p:spPr>
        <p:txBody>
          <a:bodyPr lIns="0" tIns="0" rIns="0" bIns="0" rtlCol="0" anchor="t">
            <a:spAutoFit/>
          </a:bodyPr>
          <a:lstStyle/>
          <a:p>
            <a:pPr marL="0" lvl="0" indent="0" algn="just">
              <a:lnSpc>
                <a:spcPts val="3920"/>
              </a:lnSpc>
              <a:spcBef>
                <a:spcPct val="0"/>
              </a:spcBef>
            </a:pPr>
            <a:r>
              <a:rPr lang="en-US" sz="2800" b="1">
                <a:solidFill>
                  <a:srgbClr val="021828"/>
                </a:solidFill>
                <a:latin typeface="Aileron Bold"/>
                <a:ea typeface="Aileron Bold"/>
                <a:cs typeface="Aileron Bold"/>
                <a:sym typeface="Aileron Bold"/>
              </a:rPr>
              <a:t>K</a:t>
            </a:r>
            <a:r>
              <a:rPr lang="en-US" sz="2800" b="1" u="none" strike="noStrike">
                <a:solidFill>
                  <a:srgbClr val="021828"/>
                </a:solidFill>
                <a:latin typeface="Aileron Bold"/>
                <a:ea typeface="Aileron Bold"/>
                <a:cs typeface="Aileron Bold"/>
                <a:sym typeface="Aileron Bold"/>
              </a:rPr>
              <a:t>ey Visuals :</a:t>
            </a:r>
          </a:p>
        </p:txBody>
      </p:sp>
      <p:sp>
        <p:nvSpPr>
          <p:cNvPr id="15" name="TextBox 15"/>
          <p:cNvSpPr txBox="1"/>
          <p:nvPr/>
        </p:nvSpPr>
        <p:spPr>
          <a:xfrm>
            <a:off x="1102212" y="2044913"/>
            <a:ext cx="2353372" cy="923330"/>
          </a:xfrm>
          <a:prstGeom prst="rect">
            <a:avLst/>
          </a:prstGeom>
        </p:spPr>
        <p:txBody>
          <a:bodyPr wrap="square" lIns="0" tIns="0" rIns="0" bIns="0" rtlCol="0" anchor="t">
            <a:spAutoFit/>
          </a:bodyPr>
          <a:lstStyle/>
          <a:p>
            <a:pPr algn="just">
              <a:lnSpc>
                <a:spcPts val="2407"/>
              </a:lnSpc>
            </a:pPr>
            <a:r>
              <a:rPr lang="en-US" b="1" spc="-45" dirty="0">
                <a:solidFill>
                  <a:srgbClr val="0E2F5F"/>
                </a:solidFill>
                <a:latin typeface="Aileron Bold"/>
                <a:ea typeface="Aileron Bold"/>
                <a:cs typeface="Aileron Bold"/>
                <a:sym typeface="Aileron Bold"/>
              </a:rPr>
              <a:t>Total Sales:</a:t>
            </a:r>
          </a:p>
          <a:p>
            <a:pPr algn="just">
              <a:lnSpc>
                <a:spcPts val="2407"/>
              </a:lnSpc>
            </a:pPr>
            <a:r>
              <a:rPr lang="en-US" sz="1600" b="1" spc="-45" dirty="0">
                <a:solidFill>
                  <a:srgbClr val="0E2F5F"/>
                </a:solidFill>
                <a:latin typeface="Aileron Bold"/>
                <a:ea typeface="Aileron Bold"/>
                <a:cs typeface="Aileron Bold"/>
                <a:sym typeface="Aileron Bold"/>
              </a:rPr>
              <a:t>how much the company has made</a:t>
            </a:r>
            <a:endParaRPr lang="en-US" sz="1600" spc="-45" dirty="0">
              <a:solidFill>
                <a:srgbClr val="0E2F5F"/>
              </a:solidFill>
              <a:latin typeface="Aileron"/>
              <a:ea typeface="Aileron"/>
              <a:cs typeface="Aileron"/>
              <a:sym typeface="Aileron"/>
            </a:endParaRPr>
          </a:p>
        </p:txBody>
      </p:sp>
      <p:sp>
        <p:nvSpPr>
          <p:cNvPr id="16" name="TextBox 16"/>
          <p:cNvSpPr txBox="1"/>
          <p:nvPr/>
        </p:nvSpPr>
        <p:spPr>
          <a:xfrm>
            <a:off x="3720681" y="8894078"/>
            <a:ext cx="14058473" cy="825529"/>
          </a:xfrm>
          <a:prstGeom prst="rect">
            <a:avLst/>
          </a:prstGeom>
        </p:spPr>
        <p:txBody>
          <a:bodyPr lIns="0" tIns="0" rIns="0" bIns="0" rtlCol="0" anchor="t">
            <a:spAutoFit/>
          </a:bodyPr>
          <a:lstStyle/>
          <a:p>
            <a:pPr marL="512519" lvl="1" indent="-256259" algn="just">
              <a:lnSpc>
                <a:spcPts val="3323"/>
              </a:lnSpc>
              <a:buFont typeface="Arial"/>
              <a:buChar char="•"/>
            </a:pPr>
            <a:r>
              <a:rPr lang="en-US" sz="2373" b="1">
                <a:solidFill>
                  <a:srgbClr val="0E2F5F"/>
                </a:solidFill>
                <a:latin typeface="Aileron Ultra-Bold"/>
                <a:ea typeface="Aileron Ultra-Bold"/>
                <a:cs typeface="Aileron Ultra-Bold"/>
                <a:sym typeface="Aileron Ultra-Bold"/>
              </a:rPr>
              <a:t>Using Excel, we designed a professional interactive dashboard for deeper visual storytelling and user exploration.</a:t>
            </a:r>
          </a:p>
        </p:txBody>
      </p:sp>
      <p:grpSp>
        <p:nvGrpSpPr>
          <p:cNvPr id="17" name="Group 17"/>
          <p:cNvGrpSpPr/>
          <p:nvPr/>
        </p:nvGrpSpPr>
        <p:grpSpPr>
          <a:xfrm>
            <a:off x="257692" y="3426521"/>
            <a:ext cx="790058" cy="79005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0" name="Freeform 20"/>
          <p:cNvSpPr/>
          <p:nvPr/>
        </p:nvSpPr>
        <p:spPr>
          <a:xfrm>
            <a:off x="505141" y="3673970"/>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21" name="Group 21"/>
          <p:cNvGrpSpPr/>
          <p:nvPr/>
        </p:nvGrpSpPr>
        <p:grpSpPr>
          <a:xfrm>
            <a:off x="238642" y="5028000"/>
            <a:ext cx="790058" cy="790058"/>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4" name="Freeform 24"/>
          <p:cNvSpPr/>
          <p:nvPr/>
        </p:nvSpPr>
        <p:spPr>
          <a:xfrm>
            <a:off x="486091" y="5275449"/>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25" name="Group 25"/>
          <p:cNvGrpSpPr/>
          <p:nvPr/>
        </p:nvGrpSpPr>
        <p:grpSpPr>
          <a:xfrm>
            <a:off x="257692" y="6484791"/>
            <a:ext cx="790058" cy="79005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8" name="Freeform 28"/>
          <p:cNvSpPr/>
          <p:nvPr/>
        </p:nvSpPr>
        <p:spPr>
          <a:xfrm>
            <a:off x="505141" y="6732240"/>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29" name="Group 29"/>
          <p:cNvGrpSpPr/>
          <p:nvPr/>
        </p:nvGrpSpPr>
        <p:grpSpPr>
          <a:xfrm>
            <a:off x="257692" y="7760497"/>
            <a:ext cx="790058" cy="79005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32" name="Freeform 32"/>
          <p:cNvSpPr/>
          <p:nvPr/>
        </p:nvSpPr>
        <p:spPr>
          <a:xfrm>
            <a:off x="505141" y="8007947"/>
            <a:ext cx="295160" cy="295160"/>
          </a:xfrm>
          <a:custGeom>
            <a:avLst/>
            <a:gdLst/>
            <a:ahLst/>
            <a:cxnLst/>
            <a:rect l="l" t="t" r="r" b="b"/>
            <a:pathLst>
              <a:path w="295160" h="295160">
                <a:moveTo>
                  <a:pt x="0" y="0"/>
                </a:moveTo>
                <a:lnTo>
                  <a:pt x="295160" y="0"/>
                </a:lnTo>
                <a:lnTo>
                  <a:pt x="295160" y="295159"/>
                </a:lnTo>
                <a:lnTo>
                  <a:pt x="0" y="295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3" name="TextBox 33"/>
          <p:cNvSpPr txBox="1"/>
          <p:nvPr/>
        </p:nvSpPr>
        <p:spPr>
          <a:xfrm>
            <a:off x="1142487" y="3418739"/>
            <a:ext cx="2167428" cy="884858"/>
          </a:xfrm>
          <a:prstGeom prst="rect">
            <a:avLst/>
          </a:prstGeom>
        </p:spPr>
        <p:txBody>
          <a:bodyPr lIns="0" tIns="0" rIns="0" bIns="0" rtlCol="0" anchor="t">
            <a:spAutoFit/>
          </a:bodyPr>
          <a:lstStyle/>
          <a:p>
            <a:pPr algn="just">
              <a:lnSpc>
                <a:spcPts val="2348"/>
              </a:lnSpc>
            </a:pPr>
            <a:r>
              <a:rPr lang="en-US" sz="2134" b="1" spc="-44" dirty="0">
                <a:solidFill>
                  <a:srgbClr val="0E2F5F"/>
                </a:solidFill>
                <a:latin typeface="Aileron Bold"/>
                <a:ea typeface="Aileron Bold"/>
                <a:cs typeface="Aileron Bold"/>
                <a:sym typeface="Aileron Bold"/>
              </a:rPr>
              <a:t>Sales by Cities :</a:t>
            </a:r>
            <a:r>
              <a:rPr lang="en-US" sz="2134" spc="-44" dirty="0">
                <a:solidFill>
                  <a:srgbClr val="0E2F5F"/>
                </a:solidFill>
                <a:latin typeface="Aileron"/>
                <a:ea typeface="Aileron"/>
                <a:cs typeface="Aileron"/>
                <a:sym typeface="Aileron"/>
              </a:rPr>
              <a:t> </a:t>
            </a:r>
            <a:r>
              <a:rPr lang="en-US" spc="-44" dirty="0">
                <a:solidFill>
                  <a:srgbClr val="0E2F5F"/>
                </a:solidFill>
                <a:latin typeface="Aileron"/>
                <a:ea typeface="Aileron"/>
                <a:cs typeface="Aileron"/>
                <a:sym typeface="Aileron"/>
              </a:rPr>
              <a:t>Which city makes the most sales</a:t>
            </a:r>
          </a:p>
        </p:txBody>
      </p:sp>
      <p:sp>
        <p:nvSpPr>
          <p:cNvPr id="34" name="TextBox 34"/>
          <p:cNvSpPr txBox="1"/>
          <p:nvPr/>
        </p:nvSpPr>
        <p:spPr>
          <a:xfrm>
            <a:off x="1164872" y="4738710"/>
            <a:ext cx="1890830" cy="1077218"/>
          </a:xfrm>
          <a:prstGeom prst="rect">
            <a:avLst/>
          </a:prstGeom>
        </p:spPr>
        <p:txBody>
          <a:bodyPr lIns="0" tIns="0" rIns="0" bIns="0" rtlCol="0" anchor="t">
            <a:spAutoFit/>
          </a:bodyPr>
          <a:lstStyle/>
          <a:p>
            <a:pPr algn="just">
              <a:lnSpc>
                <a:spcPts val="2083"/>
              </a:lnSpc>
            </a:pPr>
            <a:r>
              <a:rPr lang="en-US" sz="1894" b="1" spc="189" dirty="0">
                <a:solidFill>
                  <a:srgbClr val="0E2F5F"/>
                </a:solidFill>
                <a:latin typeface="Aileron Bold"/>
                <a:ea typeface="Aileron Bold"/>
                <a:cs typeface="Aileron Bold"/>
                <a:sym typeface="Aileron Bold"/>
              </a:rPr>
              <a:t>Year wise Net amount:</a:t>
            </a:r>
          </a:p>
          <a:p>
            <a:pPr algn="just">
              <a:lnSpc>
                <a:spcPts val="2083"/>
              </a:lnSpc>
            </a:pPr>
            <a:r>
              <a:rPr lang="en-US" sz="1894" b="1" spc="189" dirty="0">
                <a:solidFill>
                  <a:srgbClr val="0E2F5F"/>
                </a:solidFill>
                <a:latin typeface="Aileron Bold"/>
                <a:ea typeface="Aileron Bold"/>
                <a:cs typeface="Aileron Bold"/>
                <a:sym typeface="Aileron Bold"/>
              </a:rPr>
              <a:t> </a:t>
            </a:r>
            <a:r>
              <a:rPr lang="en-US" sz="1600" b="1" spc="189" dirty="0">
                <a:solidFill>
                  <a:srgbClr val="0E2F5F"/>
                </a:solidFill>
                <a:latin typeface="Aileron"/>
                <a:ea typeface="Aileron Bold"/>
                <a:cs typeface="Aileron Bold"/>
                <a:sym typeface="Aileron"/>
              </a:rPr>
              <a:t>Total sales per year</a:t>
            </a:r>
            <a:r>
              <a:rPr lang="en-US" sz="1600" spc="189" dirty="0">
                <a:solidFill>
                  <a:srgbClr val="0E2F5F"/>
                </a:solidFill>
                <a:latin typeface="Aileron"/>
                <a:ea typeface="Aileron"/>
                <a:cs typeface="Aileron"/>
                <a:sym typeface="Aileron"/>
              </a:rPr>
              <a:t>.</a:t>
            </a:r>
          </a:p>
        </p:txBody>
      </p:sp>
      <p:sp>
        <p:nvSpPr>
          <p:cNvPr id="35" name="TextBox 35"/>
          <p:cNvSpPr txBox="1"/>
          <p:nvPr/>
        </p:nvSpPr>
        <p:spPr>
          <a:xfrm>
            <a:off x="1066807" y="6497255"/>
            <a:ext cx="2495501" cy="784830"/>
          </a:xfrm>
          <a:prstGeom prst="rect">
            <a:avLst/>
          </a:prstGeom>
        </p:spPr>
        <p:txBody>
          <a:bodyPr wrap="square" lIns="0" tIns="0" rIns="0" bIns="0" rtlCol="0" anchor="t">
            <a:spAutoFit/>
          </a:bodyPr>
          <a:lstStyle/>
          <a:p>
            <a:pPr algn="just">
              <a:lnSpc>
                <a:spcPts val="2083"/>
              </a:lnSpc>
            </a:pPr>
            <a:r>
              <a:rPr lang="en-US" sz="1500" b="1" spc="189" dirty="0">
                <a:solidFill>
                  <a:srgbClr val="0E2F5F"/>
                </a:solidFill>
                <a:latin typeface="Aileron Ultra-Bold"/>
                <a:ea typeface="Aileron Ultra-Bold"/>
                <a:cs typeface="Aileron Ultra-Bold"/>
                <a:sym typeface="Aileron Ultra-Bold"/>
              </a:rPr>
              <a:t>Category </a:t>
            </a:r>
            <a:r>
              <a:rPr lang="en-US" sz="1500" b="1" spc="189" dirty="0" err="1">
                <a:solidFill>
                  <a:srgbClr val="0E2F5F"/>
                </a:solidFill>
                <a:latin typeface="Aileron Ultra-Bold"/>
                <a:ea typeface="Aileron Ultra-Bold"/>
                <a:cs typeface="Aileron Ultra-Bold"/>
                <a:sym typeface="Aileron Ultra-Bold"/>
              </a:rPr>
              <a:t>wies</a:t>
            </a:r>
            <a:r>
              <a:rPr lang="en-US" sz="1500" b="1" spc="189" dirty="0">
                <a:solidFill>
                  <a:srgbClr val="0E2F5F"/>
                </a:solidFill>
                <a:latin typeface="Aileron Ultra-Bold"/>
                <a:ea typeface="Aileron Ultra-Bold"/>
                <a:cs typeface="Aileron Ultra-Bold"/>
                <a:sym typeface="Aileron Ultra-Bold"/>
              </a:rPr>
              <a:t> Sales:</a:t>
            </a:r>
          </a:p>
          <a:p>
            <a:pPr algn="just">
              <a:lnSpc>
                <a:spcPts val="2083"/>
              </a:lnSpc>
            </a:pPr>
            <a:r>
              <a:rPr lang="en-US" sz="1500" b="1" spc="189" dirty="0">
                <a:solidFill>
                  <a:srgbClr val="0E2F5F"/>
                </a:solidFill>
                <a:latin typeface="Aileron Ultra-Bold"/>
                <a:ea typeface="Aileron Ultra-Bold"/>
                <a:cs typeface="Aileron Ultra-Bold"/>
                <a:sym typeface="Aileron Ultra-Bold"/>
              </a:rPr>
              <a:t>How much sales Each category makes </a:t>
            </a:r>
          </a:p>
        </p:txBody>
      </p:sp>
      <p:sp>
        <p:nvSpPr>
          <p:cNvPr id="36" name="TextBox 36"/>
          <p:cNvSpPr txBox="1"/>
          <p:nvPr/>
        </p:nvSpPr>
        <p:spPr>
          <a:xfrm>
            <a:off x="1066801" y="7650821"/>
            <a:ext cx="2495507" cy="807913"/>
          </a:xfrm>
          <a:prstGeom prst="rect">
            <a:avLst/>
          </a:prstGeom>
        </p:spPr>
        <p:txBody>
          <a:bodyPr wrap="square" lIns="0" tIns="0" rIns="0" bIns="0" rtlCol="0" anchor="t">
            <a:spAutoFit/>
          </a:bodyPr>
          <a:lstStyle/>
          <a:p>
            <a:pPr algn="just">
              <a:lnSpc>
                <a:spcPts val="2083"/>
              </a:lnSpc>
            </a:pPr>
            <a:r>
              <a:rPr lang="en-US" sz="1894" b="1" spc="189" dirty="0">
                <a:solidFill>
                  <a:srgbClr val="0E2F5F"/>
                </a:solidFill>
                <a:latin typeface="Aileron Bold"/>
                <a:ea typeface="Aileron Bold"/>
                <a:cs typeface="Aileron Bold"/>
                <a:sym typeface="Aileron Bold"/>
              </a:rPr>
              <a:t>Total Customers :</a:t>
            </a:r>
          </a:p>
          <a:p>
            <a:pPr algn="just">
              <a:lnSpc>
                <a:spcPts val="2083"/>
              </a:lnSpc>
            </a:pPr>
            <a:r>
              <a:rPr lang="en-US" sz="1894" b="1" spc="189" dirty="0">
                <a:solidFill>
                  <a:srgbClr val="0E2F5F"/>
                </a:solidFill>
                <a:latin typeface="Aileron Bold"/>
                <a:ea typeface="Aileron"/>
                <a:cs typeface="Aileron"/>
                <a:sym typeface="Aileron Bold"/>
              </a:rPr>
              <a:t>Gives Insights of Customers count</a:t>
            </a:r>
            <a:r>
              <a:rPr lang="en-US" sz="1894" spc="189" dirty="0">
                <a:solidFill>
                  <a:srgbClr val="0E2F5F"/>
                </a:solidFill>
                <a:latin typeface="Aileron"/>
                <a:ea typeface="Aileron"/>
                <a:cs typeface="Aileron"/>
                <a:sym typeface="Aileron"/>
              </a:rPr>
              <a:t> </a:t>
            </a:r>
          </a:p>
        </p:txBody>
      </p:sp>
      <p:pic>
        <p:nvPicPr>
          <p:cNvPr id="38" name="Picture 37">
            <a:extLst>
              <a:ext uri="{FF2B5EF4-FFF2-40B4-BE49-F238E27FC236}">
                <a16:creationId xmlns:a16="http://schemas.microsoft.com/office/drawing/2014/main" id="{5B7A09AF-0C68-FFD3-8B70-9785697A19B1}"/>
              </a:ext>
            </a:extLst>
          </p:cNvPr>
          <p:cNvPicPr>
            <a:picLocks noChangeAspect="1"/>
          </p:cNvPicPr>
          <p:nvPr/>
        </p:nvPicPr>
        <p:blipFill>
          <a:blip r:embed="rId8"/>
          <a:stretch>
            <a:fillRect/>
          </a:stretch>
        </p:blipFill>
        <p:spPr>
          <a:xfrm>
            <a:off x="3571097" y="1843653"/>
            <a:ext cx="14230812" cy="68829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2903" y="2218395"/>
            <a:ext cx="3957127" cy="7190061"/>
            <a:chOff x="0" y="0"/>
            <a:chExt cx="1042206" cy="1893679"/>
          </a:xfrm>
        </p:grpSpPr>
        <p:sp>
          <p:nvSpPr>
            <p:cNvPr id="3" name="Freeform 3"/>
            <p:cNvSpPr/>
            <p:nvPr/>
          </p:nvSpPr>
          <p:spPr>
            <a:xfrm>
              <a:off x="0" y="0"/>
              <a:ext cx="1042206" cy="1893679"/>
            </a:xfrm>
            <a:custGeom>
              <a:avLst/>
              <a:gdLst/>
              <a:ahLst/>
              <a:cxnLst/>
              <a:rect l="l" t="t" r="r" b="b"/>
              <a:pathLst>
                <a:path w="1042206" h="1893679">
                  <a:moveTo>
                    <a:pt x="115431" y="0"/>
                  </a:moveTo>
                  <a:lnTo>
                    <a:pt x="926776" y="0"/>
                  </a:lnTo>
                  <a:cubicBezTo>
                    <a:pt x="990526" y="0"/>
                    <a:pt x="1042206" y="51680"/>
                    <a:pt x="1042206" y="115431"/>
                  </a:cubicBezTo>
                  <a:lnTo>
                    <a:pt x="1042206" y="1778248"/>
                  </a:lnTo>
                  <a:cubicBezTo>
                    <a:pt x="1042206" y="1841999"/>
                    <a:pt x="990526" y="1893679"/>
                    <a:pt x="926776" y="1893679"/>
                  </a:cubicBezTo>
                  <a:lnTo>
                    <a:pt x="115431" y="1893679"/>
                  </a:lnTo>
                  <a:cubicBezTo>
                    <a:pt x="51680" y="1893679"/>
                    <a:pt x="0" y="1841999"/>
                    <a:pt x="0" y="1778248"/>
                  </a:cubicBezTo>
                  <a:lnTo>
                    <a:pt x="0" y="115431"/>
                  </a:lnTo>
                  <a:cubicBezTo>
                    <a:pt x="0" y="51680"/>
                    <a:pt x="51680" y="0"/>
                    <a:pt x="115431" y="0"/>
                  </a:cubicBezTo>
                  <a:close/>
                </a:path>
              </a:pathLst>
            </a:custGeom>
            <a:solidFill>
              <a:srgbClr val="E1EDFC"/>
            </a:solidFill>
            <a:ln cap="rnd">
              <a:noFill/>
              <a:prstDash val="solid"/>
              <a:round/>
            </a:ln>
          </p:spPr>
          <p:txBody>
            <a:bodyPr/>
            <a:lstStyle/>
            <a:p>
              <a:endParaRPr lang="en-IN"/>
            </a:p>
          </p:txBody>
        </p:sp>
        <p:sp>
          <p:nvSpPr>
            <p:cNvPr id="4" name="TextBox 4"/>
            <p:cNvSpPr txBox="1"/>
            <p:nvPr/>
          </p:nvSpPr>
          <p:spPr>
            <a:xfrm>
              <a:off x="0" y="-47625"/>
              <a:ext cx="1042206" cy="1941304"/>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5" name="AutoShape 5"/>
          <p:cNvSpPr/>
          <p:nvPr/>
        </p:nvSpPr>
        <p:spPr>
          <a:xfrm>
            <a:off x="644635" y="2614504"/>
            <a:ext cx="0" cy="9299815"/>
          </a:xfrm>
          <a:prstGeom prst="line">
            <a:avLst/>
          </a:prstGeom>
          <a:ln w="38100" cap="flat">
            <a:solidFill>
              <a:srgbClr val="5188CC"/>
            </a:solidFill>
            <a:prstDash val="solid"/>
            <a:headEnd type="none" w="sm" len="sm"/>
            <a:tailEnd type="none" w="sm" len="sm"/>
          </a:ln>
        </p:spPr>
        <p:txBody>
          <a:bodyPr/>
          <a:lstStyle/>
          <a:p>
            <a:endParaRPr lang="en-IN"/>
          </a:p>
        </p:txBody>
      </p:sp>
      <p:grpSp>
        <p:nvGrpSpPr>
          <p:cNvPr id="6" name="Group 6"/>
          <p:cNvGrpSpPr/>
          <p:nvPr/>
        </p:nvGrpSpPr>
        <p:grpSpPr>
          <a:xfrm>
            <a:off x="230556" y="2367055"/>
            <a:ext cx="790058" cy="79005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478005" y="2614504"/>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4044420" y="-1848214"/>
            <a:ext cx="3691868" cy="3691868"/>
          </a:xfrm>
          <a:custGeom>
            <a:avLst/>
            <a:gdLst/>
            <a:ahLst/>
            <a:cxnLst/>
            <a:rect l="l" t="t" r="r" b="b"/>
            <a:pathLst>
              <a:path w="3691868" h="3691868">
                <a:moveTo>
                  <a:pt x="0" y="0"/>
                </a:moveTo>
                <a:lnTo>
                  <a:pt x="3691867" y="0"/>
                </a:lnTo>
                <a:lnTo>
                  <a:pt x="3691867" y="3691868"/>
                </a:lnTo>
                <a:lnTo>
                  <a:pt x="0" y="36918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a:off x="3396943" y="1028700"/>
            <a:ext cx="647477" cy="647477"/>
          </a:xfrm>
          <a:custGeom>
            <a:avLst/>
            <a:gdLst/>
            <a:ahLst/>
            <a:cxnLst/>
            <a:rect l="l" t="t" r="r" b="b"/>
            <a:pathLst>
              <a:path w="647477" h="647477">
                <a:moveTo>
                  <a:pt x="0" y="0"/>
                </a:moveTo>
                <a:lnTo>
                  <a:pt x="647477" y="0"/>
                </a:lnTo>
                <a:lnTo>
                  <a:pt x="647477" y="647477"/>
                </a:lnTo>
                <a:lnTo>
                  <a:pt x="0" y="6474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grpSp>
        <p:nvGrpSpPr>
          <p:cNvPr id="12" name="Group 12"/>
          <p:cNvGrpSpPr/>
          <p:nvPr/>
        </p:nvGrpSpPr>
        <p:grpSpPr>
          <a:xfrm>
            <a:off x="316119" y="4850449"/>
            <a:ext cx="618932" cy="61893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5" name="Freeform 15"/>
          <p:cNvSpPr/>
          <p:nvPr/>
        </p:nvSpPr>
        <p:spPr>
          <a:xfrm>
            <a:off x="478005" y="5030446"/>
            <a:ext cx="295160" cy="295160"/>
          </a:xfrm>
          <a:custGeom>
            <a:avLst/>
            <a:gdLst/>
            <a:ahLst/>
            <a:cxnLst/>
            <a:rect l="l" t="t" r="r" b="b"/>
            <a:pathLst>
              <a:path w="295160" h="295160">
                <a:moveTo>
                  <a:pt x="0" y="0"/>
                </a:moveTo>
                <a:lnTo>
                  <a:pt x="295160" y="0"/>
                </a:lnTo>
                <a:lnTo>
                  <a:pt x="295160" y="295159"/>
                </a:lnTo>
                <a:lnTo>
                  <a:pt x="0" y="295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6" name="Group 16"/>
          <p:cNvGrpSpPr/>
          <p:nvPr/>
        </p:nvGrpSpPr>
        <p:grpSpPr>
          <a:xfrm>
            <a:off x="328962" y="6352621"/>
            <a:ext cx="616375" cy="61637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9" name="Freeform 19"/>
          <p:cNvSpPr/>
          <p:nvPr/>
        </p:nvSpPr>
        <p:spPr>
          <a:xfrm>
            <a:off x="478005" y="6496661"/>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20" name="Group 20"/>
          <p:cNvGrpSpPr/>
          <p:nvPr/>
        </p:nvGrpSpPr>
        <p:grpSpPr>
          <a:xfrm>
            <a:off x="317012" y="7839635"/>
            <a:ext cx="601405" cy="60140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3" name="Freeform 23"/>
          <p:cNvSpPr/>
          <p:nvPr/>
        </p:nvSpPr>
        <p:spPr>
          <a:xfrm>
            <a:off x="478005" y="8016561"/>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5" name="TextBox 25"/>
          <p:cNvSpPr txBox="1"/>
          <p:nvPr/>
        </p:nvSpPr>
        <p:spPr>
          <a:xfrm>
            <a:off x="9745244" y="816803"/>
            <a:ext cx="7710675" cy="944372"/>
          </a:xfrm>
          <a:prstGeom prst="rect">
            <a:avLst/>
          </a:prstGeom>
        </p:spPr>
        <p:txBody>
          <a:bodyPr lIns="0" tIns="0" rIns="0" bIns="0" rtlCol="0" anchor="t">
            <a:spAutoFit/>
          </a:bodyPr>
          <a:lstStyle/>
          <a:p>
            <a:pPr marL="0" lvl="0" indent="0" algn="r">
              <a:lnSpc>
                <a:spcPts val="6603"/>
              </a:lnSpc>
              <a:spcBef>
                <a:spcPct val="0"/>
              </a:spcBef>
            </a:pPr>
            <a:r>
              <a:rPr lang="en-US" sz="5199" b="1">
                <a:solidFill>
                  <a:srgbClr val="0E2F5F"/>
                </a:solidFill>
                <a:latin typeface="Akzidenz-Grotesk Heavy"/>
                <a:ea typeface="Akzidenz-Grotesk Heavy"/>
                <a:cs typeface="Akzidenz-Grotesk Heavy"/>
                <a:sym typeface="Akzidenz-Grotesk Heavy"/>
              </a:rPr>
              <a:t>Tab</a:t>
            </a:r>
            <a:r>
              <a:rPr lang="en-US" sz="5199" b="1" u="none" strike="noStrike">
                <a:solidFill>
                  <a:srgbClr val="0E2F5F"/>
                </a:solidFill>
                <a:latin typeface="Akzidenz-Grotesk Heavy"/>
                <a:ea typeface="Akzidenz-Grotesk Heavy"/>
                <a:cs typeface="Akzidenz-Grotesk Heavy"/>
                <a:sym typeface="Akzidenz-Grotesk Heavy"/>
              </a:rPr>
              <a:t>leau Dashboard</a:t>
            </a:r>
          </a:p>
        </p:txBody>
      </p:sp>
      <p:sp>
        <p:nvSpPr>
          <p:cNvPr id="26" name="TextBox 26"/>
          <p:cNvSpPr txBox="1"/>
          <p:nvPr/>
        </p:nvSpPr>
        <p:spPr>
          <a:xfrm>
            <a:off x="127400" y="1619027"/>
            <a:ext cx="3531599" cy="976629"/>
          </a:xfrm>
          <a:prstGeom prst="rect">
            <a:avLst/>
          </a:prstGeom>
        </p:spPr>
        <p:txBody>
          <a:bodyPr lIns="0" tIns="0" rIns="0" bIns="0" rtlCol="0" anchor="t">
            <a:spAutoFit/>
          </a:bodyPr>
          <a:lstStyle/>
          <a:p>
            <a:pPr marL="0" lvl="0" indent="0" algn="just">
              <a:lnSpc>
                <a:spcPts val="3920"/>
              </a:lnSpc>
              <a:spcBef>
                <a:spcPct val="0"/>
              </a:spcBef>
            </a:pPr>
            <a:r>
              <a:rPr lang="en-US" sz="2800" b="1">
                <a:solidFill>
                  <a:srgbClr val="021828"/>
                </a:solidFill>
                <a:latin typeface="Aileron Bold"/>
                <a:ea typeface="Aileron Bold"/>
                <a:cs typeface="Aileron Bold"/>
                <a:sym typeface="Aileron Bold"/>
              </a:rPr>
              <a:t>Featur</a:t>
            </a:r>
            <a:r>
              <a:rPr lang="en-US" sz="2800" b="1" u="none" strike="noStrike">
                <a:solidFill>
                  <a:srgbClr val="021828"/>
                </a:solidFill>
                <a:latin typeface="Aileron Bold"/>
                <a:ea typeface="Aileron Bold"/>
                <a:cs typeface="Aileron Bold"/>
                <a:sym typeface="Aileron Bold"/>
              </a:rPr>
              <a:t>es include:</a:t>
            </a:r>
          </a:p>
          <a:p>
            <a:pPr marL="0" lvl="0" indent="0" algn="just">
              <a:lnSpc>
                <a:spcPts val="3920"/>
              </a:lnSpc>
              <a:spcBef>
                <a:spcPct val="0"/>
              </a:spcBef>
            </a:pPr>
            <a:endParaRPr lang="en-US" sz="2800" b="1" u="none" strike="noStrike">
              <a:solidFill>
                <a:srgbClr val="021828"/>
              </a:solidFill>
              <a:latin typeface="Aileron Bold"/>
              <a:ea typeface="Aileron Bold"/>
              <a:cs typeface="Aileron Bold"/>
              <a:sym typeface="Aileron Bold"/>
            </a:endParaRPr>
          </a:p>
        </p:txBody>
      </p:sp>
      <p:sp>
        <p:nvSpPr>
          <p:cNvPr id="27" name="TextBox 27"/>
          <p:cNvSpPr txBox="1"/>
          <p:nvPr/>
        </p:nvSpPr>
        <p:spPr>
          <a:xfrm>
            <a:off x="1004331" y="2386105"/>
            <a:ext cx="2410298" cy="923330"/>
          </a:xfrm>
          <a:prstGeom prst="rect">
            <a:avLst/>
          </a:prstGeom>
        </p:spPr>
        <p:txBody>
          <a:bodyPr wrap="square" lIns="0" tIns="0" rIns="0" bIns="0" rtlCol="0" anchor="t">
            <a:spAutoFit/>
          </a:bodyPr>
          <a:lstStyle/>
          <a:p>
            <a:pPr algn="just">
              <a:lnSpc>
                <a:spcPts val="2407"/>
              </a:lnSpc>
            </a:pPr>
            <a:r>
              <a:rPr lang="en-US" sz="2188" b="1" spc="-45" dirty="0">
                <a:solidFill>
                  <a:srgbClr val="0E2F5F"/>
                </a:solidFill>
                <a:latin typeface="Aileron Bold"/>
                <a:ea typeface="Aileron Bold"/>
                <a:cs typeface="Aileron Bold"/>
                <a:sym typeface="Aileron Bold"/>
              </a:rPr>
              <a:t>Total Sales KPI :</a:t>
            </a:r>
            <a:r>
              <a:rPr lang="en-US" sz="2188" spc="-45" dirty="0">
                <a:solidFill>
                  <a:srgbClr val="0E2F5F"/>
                </a:solidFill>
                <a:latin typeface="Aileron"/>
                <a:ea typeface="Aileron"/>
                <a:cs typeface="Aileron"/>
                <a:sym typeface="Aileron"/>
              </a:rPr>
              <a:t> Total Sales with last year profit and loss</a:t>
            </a:r>
          </a:p>
        </p:txBody>
      </p:sp>
      <p:sp>
        <p:nvSpPr>
          <p:cNvPr id="28" name="TextBox 28"/>
          <p:cNvSpPr txBox="1"/>
          <p:nvPr/>
        </p:nvSpPr>
        <p:spPr>
          <a:xfrm>
            <a:off x="4081761" y="1885961"/>
            <a:ext cx="14058473" cy="825529"/>
          </a:xfrm>
          <a:prstGeom prst="rect">
            <a:avLst/>
          </a:prstGeom>
        </p:spPr>
        <p:txBody>
          <a:bodyPr lIns="0" tIns="0" rIns="0" bIns="0" rtlCol="0" anchor="t">
            <a:spAutoFit/>
          </a:bodyPr>
          <a:lstStyle/>
          <a:p>
            <a:pPr marL="512519" lvl="1" indent="-256259" algn="just">
              <a:lnSpc>
                <a:spcPts val="3323"/>
              </a:lnSpc>
              <a:buFont typeface="Arial"/>
              <a:buChar char="•"/>
            </a:pPr>
            <a:r>
              <a:rPr lang="en-US" sz="2373" b="1">
                <a:solidFill>
                  <a:srgbClr val="0E2F5F"/>
                </a:solidFill>
                <a:latin typeface="Aileron Ultra-Bold"/>
                <a:ea typeface="Aileron Ultra-Bold"/>
                <a:cs typeface="Aileron Ultra-Bold"/>
                <a:sym typeface="Aileron Ultra-Bold"/>
              </a:rPr>
              <a:t>We developed a professional, interactive dashboard in Tableau to empower users with dynamic visual storytelling and intuitive data exploration.</a:t>
            </a:r>
          </a:p>
        </p:txBody>
      </p:sp>
      <p:sp>
        <p:nvSpPr>
          <p:cNvPr id="29" name="TextBox 29"/>
          <p:cNvSpPr txBox="1"/>
          <p:nvPr/>
        </p:nvSpPr>
        <p:spPr>
          <a:xfrm>
            <a:off x="1118446" y="3524241"/>
            <a:ext cx="2244931" cy="1474763"/>
          </a:xfrm>
          <a:prstGeom prst="rect">
            <a:avLst/>
          </a:prstGeom>
        </p:spPr>
        <p:txBody>
          <a:bodyPr lIns="0" tIns="0" rIns="0" bIns="0" rtlCol="0" anchor="t">
            <a:spAutoFit/>
          </a:bodyPr>
          <a:lstStyle/>
          <a:p>
            <a:pPr algn="just">
              <a:lnSpc>
                <a:spcPts val="2348"/>
              </a:lnSpc>
            </a:pPr>
            <a:r>
              <a:rPr lang="en-US" sz="2134" b="1" spc="-44" dirty="0">
                <a:solidFill>
                  <a:srgbClr val="0E2F5F"/>
                </a:solidFill>
                <a:latin typeface="Aileron Bold"/>
                <a:ea typeface="Aileron Bold"/>
                <a:cs typeface="Aileron Bold"/>
                <a:sym typeface="Aileron Bold"/>
              </a:rPr>
              <a:t>Top 10 Sales Category Bar Chart</a:t>
            </a:r>
            <a:r>
              <a:rPr lang="en-US" sz="2134" spc="-44" dirty="0">
                <a:solidFill>
                  <a:srgbClr val="0E2F5F"/>
                </a:solidFill>
                <a:latin typeface="Aileron"/>
                <a:ea typeface="Aileron"/>
                <a:cs typeface="Aileron"/>
                <a:sym typeface="Aileron"/>
              </a:rPr>
              <a:t> : Most in-demand Products.</a:t>
            </a:r>
          </a:p>
          <a:p>
            <a:pPr algn="just">
              <a:lnSpc>
                <a:spcPts val="2348"/>
              </a:lnSpc>
            </a:pPr>
            <a:endParaRPr lang="en-US" sz="2134" spc="-44" dirty="0">
              <a:solidFill>
                <a:srgbClr val="0E2F5F"/>
              </a:solidFill>
              <a:latin typeface="Aileron"/>
              <a:ea typeface="Aileron"/>
              <a:cs typeface="Aileron"/>
              <a:sym typeface="Aileron"/>
            </a:endParaRPr>
          </a:p>
        </p:txBody>
      </p:sp>
      <p:sp>
        <p:nvSpPr>
          <p:cNvPr id="31" name="TextBox 31"/>
          <p:cNvSpPr txBox="1"/>
          <p:nvPr/>
        </p:nvSpPr>
        <p:spPr>
          <a:xfrm>
            <a:off x="1051717" y="4972130"/>
            <a:ext cx="2410298" cy="1077218"/>
          </a:xfrm>
          <a:prstGeom prst="rect">
            <a:avLst/>
          </a:prstGeom>
        </p:spPr>
        <p:txBody>
          <a:bodyPr lIns="0" tIns="0" rIns="0" bIns="0" rtlCol="0" anchor="t">
            <a:spAutoFit/>
          </a:bodyPr>
          <a:lstStyle/>
          <a:p>
            <a:pPr algn="just">
              <a:lnSpc>
                <a:spcPts val="2083"/>
              </a:lnSpc>
            </a:pPr>
            <a:r>
              <a:rPr lang="en-US" sz="1894" b="1" spc="189" dirty="0">
                <a:solidFill>
                  <a:srgbClr val="0E2F5F"/>
                </a:solidFill>
                <a:latin typeface="Aileron Bold"/>
                <a:ea typeface="Aileron Bold"/>
                <a:cs typeface="Aileron Bold"/>
                <a:sym typeface="Aileron Bold"/>
              </a:rPr>
              <a:t>Net Amount Pie Chart :</a:t>
            </a:r>
            <a:r>
              <a:rPr lang="en-US" sz="1894" spc="189" dirty="0">
                <a:solidFill>
                  <a:srgbClr val="0E2F5F"/>
                </a:solidFill>
                <a:latin typeface="Aileron"/>
                <a:ea typeface="Aileron"/>
                <a:cs typeface="Aileron"/>
                <a:sym typeface="Aileron"/>
              </a:rPr>
              <a:t> Product category with Percentage</a:t>
            </a:r>
          </a:p>
        </p:txBody>
      </p:sp>
      <p:sp>
        <p:nvSpPr>
          <p:cNvPr id="32" name="TextBox 32"/>
          <p:cNvSpPr txBox="1"/>
          <p:nvPr/>
        </p:nvSpPr>
        <p:spPr>
          <a:xfrm>
            <a:off x="1021491" y="6467890"/>
            <a:ext cx="2397438" cy="1077218"/>
          </a:xfrm>
          <a:prstGeom prst="rect">
            <a:avLst/>
          </a:prstGeom>
        </p:spPr>
        <p:txBody>
          <a:bodyPr lIns="0" tIns="0" rIns="0" bIns="0" rtlCol="0" anchor="t">
            <a:spAutoFit/>
          </a:bodyPr>
          <a:lstStyle/>
          <a:p>
            <a:pPr algn="just">
              <a:lnSpc>
                <a:spcPts val="2083"/>
              </a:lnSpc>
            </a:pPr>
            <a:r>
              <a:rPr lang="en-US" sz="1894" b="1" spc="189" dirty="0">
                <a:solidFill>
                  <a:srgbClr val="0E2F5F"/>
                </a:solidFill>
                <a:latin typeface="Aileron Bold"/>
                <a:ea typeface="Aileron Bold"/>
                <a:cs typeface="Aileron Bold"/>
                <a:sym typeface="Aileron Bold"/>
              </a:rPr>
              <a:t>Geographic Map</a:t>
            </a:r>
            <a:r>
              <a:rPr lang="en-US" sz="1894" spc="189" dirty="0">
                <a:solidFill>
                  <a:srgbClr val="0E2F5F"/>
                </a:solidFill>
                <a:latin typeface="Aileron"/>
                <a:ea typeface="Aileron"/>
                <a:cs typeface="Aileron"/>
                <a:sym typeface="Aileron"/>
              </a:rPr>
              <a:t> : Most Sales by City insights in a Geographic map</a:t>
            </a:r>
          </a:p>
        </p:txBody>
      </p:sp>
      <p:sp>
        <p:nvSpPr>
          <p:cNvPr id="33" name="TextBox 33"/>
          <p:cNvSpPr txBox="1"/>
          <p:nvPr/>
        </p:nvSpPr>
        <p:spPr>
          <a:xfrm>
            <a:off x="1076342" y="7861519"/>
            <a:ext cx="2255306" cy="591880"/>
          </a:xfrm>
          <a:prstGeom prst="rect">
            <a:avLst/>
          </a:prstGeom>
        </p:spPr>
        <p:txBody>
          <a:bodyPr lIns="0" tIns="0" rIns="0" bIns="0" rtlCol="0" anchor="t">
            <a:spAutoFit/>
          </a:bodyPr>
          <a:lstStyle/>
          <a:p>
            <a:pPr algn="just">
              <a:lnSpc>
                <a:spcPts val="2327"/>
              </a:lnSpc>
            </a:pPr>
            <a:r>
              <a:rPr lang="en-US" sz="2115" b="1" spc="211" dirty="0">
                <a:solidFill>
                  <a:srgbClr val="0E2F5F"/>
                </a:solidFill>
                <a:latin typeface="Aileron Bold"/>
                <a:ea typeface="Aileron Bold"/>
                <a:cs typeface="Aileron Bold"/>
                <a:sym typeface="Aileron Bold"/>
              </a:rPr>
              <a:t>Interactive Filters: </a:t>
            </a:r>
          </a:p>
        </p:txBody>
      </p:sp>
      <p:grpSp>
        <p:nvGrpSpPr>
          <p:cNvPr id="38" name="Group 38"/>
          <p:cNvGrpSpPr/>
          <p:nvPr/>
        </p:nvGrpSpPr>
        <p:grpSpPr>
          <a:xfrm>
            <a:off x="342416" y="3595325"/>
            <a:ext cx="616375" cy="616375"/>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40" name="TextBox 4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41" name="Freeform 41"/>
          <p:cNvSpPr/>
          <p:nvPr/>
        </p:nvSpPr>
        <p:spPr>
          <a:xfrm>
            <a:off x="495539" y="3755933"/>
            <a:ext cx="295160" cy="295160"/>
          </a:xfrm>
          <a:custGeom>
            <a:avLst/>
            <a:gdLst/>
            <a:ahLst/>
            <a:cxnLst/>
            <a:rect l="l" t="t" r="r" b="b"/>
            <a:pathLst>
              <a:path w="295160" h="295160">
                <a:moveTo>
                  <a:pt x="0" y="0"/>
                </a:moveTo>
                <a:lnTo>
                  <a:pt x="295159" y="0"/>
                </a:lnTo>
                <a:lnTo>
                  <a:pt x="295159"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42" name="Picture 41">
            <a:extLst>
              <a:ext uri="{FF2B5EF4-FFF2-40B4-BE49-F238E27FC236}">
                <a16:creationId xmlns:a16="http://schemas.microsoft.com/office/drawing/2014/main" id="{293811A8-B50C-4DCB-1822-B59FCC89223F}"/>
              </a:ext>
            </a:extLst>
          </p:cNvPr>
          <p:cNvPicPr>
            <a:picLocks noChangeAspect="1"/>
          </p:cNvPicPr>
          <p:nvPr/>
        </p:nvPicPr>
        <p:blipFill>
          <a:blip r:embed="rId8"/>
          <a:stretch>
            <a:fillRect/>
          </a:stretch>
        </p:blipFill>
        <p:spPr>
          <a:xfrm>
            <a:off x="4081761" y="2752359"/>
            <a:ext cx="13975683" cy="71900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2127-5A89-53FD-27E3-D601B170D1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6F31564-E67F-9C3D-7A06-06BFC0F7E106}"/>
              </a:ext>
            </a:extLst>
          </p:cNvPr>
          <p:cNvGrpSpPr/>
          <p:nvPr/>
        </p:nvGrpSpPr>
        <p:grpSpPr>
          <a:xfrm>
            <a:off x="-402903" y="2218395"/>
            <a:ext cx="3957127" cy="7190061"/>
            <a:chOff x="0" y="0"/>
            <a:chExt cx="1042206" cy="1893679"/>
          </a:xfrm>
        </p:grpSpPr>
        <p:sp>
          <p:nvSpPr>
            <p:cNvPr id="3" name="Freeform 3">
              <a:extLst>
                <a:ext uri="{FF2B5EF4-FFF2-40B4-BE49-F238E27FC236}">
                  <a16:creationId xmlns:a16="http://schemas.microsoft.com/office/drawing/2014/main" id="{63A99D9B-C887-6C57-327E-FF0617B4399B}"/>
                </a:ext>
              </a:extLst>
            </p:cNvPr>
            <p:cNvSpPr/>
            <p:nvPr/>
          </p:nvSpPr>
          <p:spPr>
            <a:xfrm>
              <a:off x="0" y="0"/>
              <a:ext cx="1042206" cy="1893679"/>
            </a:xfrm>
            <a:custGeom>
              <a:avLst/>
              <a:gdLst/>
              <a:ahLst/>
              <a:cxnLst/>
              <a:rect l="l" t="t" r="r" b="b"/>
              <a:pathLst>
                <a:path w="1042206" h="1893679">
                  <a:moveTo>
                    <a:pt x="115431" y="0"/>
                  </a:moveTo>
                  <a:lnTo>
                    <a:pt x="926776" y="0"/>
                  </a:lnTo>
                  <a:cubicBezTo>
                    <a:pt x="990526" y="0"/>
                    <a:pt x="1042206" y="51680"/>
                    <a:pt x="1042206" y="115431"/>
                  </a:cubicBezTo>
                  <a:lnTo>
                    <a:pt x="1042206" y="1778248"/>
                  </a:lnTo>
                  <a:cubicBezTo>
                    <a:pt x="1042206" y="1841999"/>
                    <a:pt x="990526" y="1893679"/>
                    <a:pt x="926776" y="1893679"/>
                  </a:cubicBezTo>
                  <a:lnTo>
                    <a:pt x="115431" y="1893679"/>
                  </a:lnTo>
                  <a:cubicBezTo>
                    <a:pt x="51680" y="1893679"/>
                    <a:pt x="0" y="1841999"/>
                    <a:pt x="0" y="1778248"/>
                  </a:cubicBezTo>
                  <a:lnTo>
                    <a:pt x="0" y="115431"/>
                  </a:lnTo>
                  <a:cubicBezTo>
                    <a:pt x="0" y="51680"/>
                    <a:pt x="51680" y="0"/>
                    <a:pt x="115431" y="0"/>
                  </a:cubicBezTo>
                  <a:close/>
                </a:path>
              </a:pathLst>
            </a:custGeom>
            <a:solidFill>
              <a:srgbClr val="E1EDFC"/>
            </a:solidFill>
            <a:ln cap="rnd">
              <a:noFill/>
              <a:prstDash val="solid"/>
              <a:round/>
            </a:ln>
          </p:spPr>
          <p:txBody>
            <a:bodyPr/>
            <a:lstStyle/>
            <a:p>
              <a:endParaRPr lang="en-IN"/>
            </a:p>
          </p:txBody>
        </p:sp>
        <p:sp>
          <p:nvSpPr>
            <p:cNvPr id="4" name="TextBox 4">
              <a:extLst>
                <a:ext uri="{FF2B5EF4-FFF2-40B4-BE49-F238E27FC236}">
                  <a16:creationId xmlns:a16="http://schemas.microsoft.com/office/drawing/2014/main" id="{8A780C9E-B664-FD91-6752-9978320CEFC5}"/>
                </a:ext>
              </a:extLst>
            </p:cNvPr>
            <p:cNvSpPr txBox="1"/>
            <p:nvPr/>
          </p:nvSpPr>
          <p:spPr>
            <a:xfrm>
              <a:off x="0" y="-47625"/>
              <a:ext cx="1042206" cy="1941304"/>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5" name="AutoShape 5">
            <a:extLst>
              <a:ext uri="{FF2B5EF4-FFF2-40B4-BE49-F238E27FC236}">
                <a16:creationId xmlns:a16="http://schemas.microsoft.com/office/drawing/2014/main" id="{AE81F026-0859-B627-1A10-B1C2FB7A25AC}"/>
              </a:ext>
            </a:extLst>
          </p:cNvPr>
          <p:cNvSpPr/>
          <p:nvPr/>
        </p:nvSpPr>
        <p:spPr>
          <a:xfrm>
            <a:off x="644635" y="2614504"/>
            <a:ext cx="0" cy="9299815"/>
          </a:xfrm>
          <a:prstGeom prst="line">
            <a:avLst/>
          </a:prstGeom>
          <a:ln w="38100" cap="flat">
            <a:solidFill>
              <a:srgbClr val="5188CC"/>
            </a:solidFill>
            <a:prstDash val="solid"/>
            <a:headEnd type="none" w="sm" len="sm"/>
            <a:tailEnd type="none" w="sm" len="sm"/>
          </a:ln>
        </p:spPr>
        <p:txBody>
          <a:bodyPr/>
          <a:lstStyle/>
          <a:p>
            <a:endParaRPr lang="en-IN"/>
          </a:p>
        </p:txBody>
      </p:sp>
      <p:grpSp>
        <p:nvGrpSpPr>
          <p:cNvPr id="6" name="Group 6">
            <a:extLst>
              <a:ext uri="{FF2B5EF4-FFF2-40B4-BE49-F238E27FC236}">
                <a16:creationId xmlns:a16="http://schemas.microsoft.com/office/drawing/2014/main" id="{AC6402C6-3DB0-E797-8ECF-E83856C2FF4C}"/>
              </a:ext>
            </a:extLst>
          </p:cNvPr>
          <p:cNvGrpSpPr/>
          <p:nvPr/>
        </p:nvGrpSpPr>
        <p:grpSpPr>
          <a:xfrm>
            <a:off x="230556" y="2367055"/>
            <a:ext cx="790058" cy="790058"/>
            <a:chOff x="0" y="0"/>
            <a:chExt cx="812800" cy="812800"/>
          </a:xfrm>
        </p:grpSpPr>
        <p:sp>
          <p:nvSpPr>
            <p:cNvPr id="7" name="Freeform 7">
              <a:extLst>
                <a:ext uri="{FF2B5EF4-FFF2-40B4-BE49-F238E27FC236}">
                  <a16:creationId xmlns:a16="http://schemas.microsoft.com/office/drawing/2014/main" id="{E4DAFFA3-A761-7518-E8BC-7D951B9345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8" name="TextBox 8">
              <a:extLst>
                <a:ext uri="{FF2B5EF4-FFF2-40B4-BE49-F238E27FC236}">
                  <a16:creationId xmlns:a16="http://schemas.microsoft.com/office/drawing/2014/main" id="{6E863787-316C-6349-A41D-ED367F3CFE4D}"/>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9" name="Freeform 9">
            <a:extLst>
              <a:ext uri="{FF2B5EF4-FFF2-40B4-BE49-F238E27FC236}">
                <a16:creationId xmlns:a16="http://schemas.microsoft.com/office/drawing/2014/main" id="{E01A5AD5-07C7-80CB-0582-A82631CCCE2F}"/>
              </a:ext>
            </a:extLst>
          </p:cNvPr>
          <p:cNvSpPr/>
          <p:nvPr/>
        </p:nvSpPr>
        <p:spPr>
          <a:xfrm>
            <a:off x="478005" y="2614504"/>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9AF70CCC-232A-9159-F883-66D27CFA9B3C}"/>
              </a:ext>
            </a:extLst>
          </p:cNvPr>
          <p:cNvSpPr/>
          <p:nvPr/>
        </p:nvSpPr>
        <p:spPr>
          <a:xfrm>
            <a:off x="4044420" y="-1848214"/>
            <a:ext cx="3691868" cy="3691868"/>
          </a:xfrm>
          <a:custGeom>
            <a:avLst/>
            <a:gdLst/>
            <a:ahLst/>
            <a:cxnLst/>
            <a:rect l="l" t="t" r="r" b="b"/>
            <a:pathLst>
              <a:path w="3691868" h="3691868">
                <a:moveTo>
                  <a:pt x="0" y="0"/>
                </a:moveTo>
                <a:lnTo>
                  <a:pt x="3691867" y="0"/>
                </a:lnTo>
                <a:lnTo>
                  <a:pt x="3691867" y="3691868"/>
                </a:lnTo>
                <a:lnTo>
                  <a:pt x="0" y="36918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A138D9E3-AC06-7072-9CFC-CB3788996DE2}"/>
              </a:ext>
            </a:extLst>
          </p:cNvPr>
          <p:cNvSpPr/>
          <p:nvPr/>
        </p:nvSpPr>
        <p:spPr>
          <a:xfrm>
            <a:off x="3396943" y="1028700"/>
            <a:ext cx="647477" cy="647477"/>
          </a:xfrm>
          <a:custGeom>
            <a:avLst/>
            <a:gdLst/>
            <a:ahLst/>
            <a:cxnLst/>
            <a:rect l="l" t="t" r="r" b="b"/>
            <a:pathLst>
              <a:path w="647477" h="647477">
                <a:moveTo>
                  <a:pt x="0" y="0"/>
                </a:moveTo>
                <a:lnTo>
                  <a:pt x="647477" y="0"/>
                </a:lnTo>
                <a:lnTo>
                  <a:pt x="647477" y="647477"/>
                </a:lnTo>
                <a:lnTo>
                  <a:pt x="0" y="6474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grpSp>
        <p:nvGrpSpPr>
          <p:cNvPr id="12" name="Group 12">
            <a:extLst>
              <a:ext uri="{FF2B5EF4-FFF2-40B4-BE49-F238E27FC236}">
                <a16:creationId xmlns:a16="http://schemas.microsoft.com/office/drawing/2014/main" id="{EB8B7801-54B3-B200-3B7C-018D06B4D1D7}"/>
              </a:ext>
            </a:extLst>
          </p:cNvPr>
          <p:cNvGrpSpPr/>
          <p:nvPr/>
        </p:nvGrpSpPr>
        <p:grpSpPr>
          <a:xfrm>
            <a:off x="316119" y="4850449"/>
            <a:ext cx="618932" cy="618932"/>
            <a:chOff x="0" y="0"/>
            <a:chExt cx="812800" cy="812800"/>
          </a:xfrm>
        </p:grpSpPr>
        <p:sp>
          <p:nvSpPr>
            <p:cNvPr id="13" name="Freeform 13">
              <a:extLst>
                <a:ext uri="{FF2B5EF4-FFF2-40B4-BE49-F238E27FC236}">
                  <a16:creationId xmlns:a16="http://schemas.microsoft.com/office/drawing/2014/main" id="{683FCD5C-DEFF-9146-B3F4-60259534A4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14" name="TextBox 14">
              <a:extLst>
                <a:ext uri="{FF2B5EF4-FFF2-40B4-BE49-F238E27FC236}">
                  <a16:creationId xmlns:a16="http://schemas.microsoft.com/office/drawing/2014/main" id="{28847006-1681-0138-7B6E-DBB63BF33637}"/>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5" name="Freeform 15">
            <a:extLst>
              <a:ext uri="{FF2B5EF4-FFF2-40B4-BE49-F238E27FC236}">
                <a16:creationId xmlns:a16="http://schemas.microsoft.com/office/drawing/2014/main" id="{0B51E6EB-111B-8989-1D2B-0CDF48DB679B}"/>
              </a:ext>
            </a:extLst>
          </p:cNvPr>
          <p:cNvSpPr/>
          <p:nvPr/>
        </p:nvSpPr>
        <p:spPr>
          <a:xfrm>
            <a:off x="478005" y="5030446"/>
            <a:ext cx="295160" cy="295160"/>
          </a:xfrm>
          <a:custGeom>
            <a:avLst/>
            <a:gdLst/>
            <a:ahLst/>
            <a:cxnLst/>
            <a:rect l="l" t="t" r="r" b="b"/>
            <a:pathLst>
              <a:path w="295160" h="295160">
                <a:moveTo>
                  <a:pt x="0" y="0"/>
                </a:moveTo>
                <a:lnTo>
                  <a:pt x="295160" y="0"/>
                </a:lnTo>
                <a:lnTo>
                  <a:pt x="295160" y="295159"/>
                </a:lnTo>
                <a:lnTo>
                  <a:pt x="0" y="295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6" name="Group 16">
            <a:extLst>
              <a:ext uri="{FF2B5EF4-FFF2-40B4-BE49-F238E27FC236}">
                <a16:creationId xmlns:a16="http://schemas.microsoft.com/office/drawing/2014/main" id="{A3B311A4-7AA4-8855-1F09-AB6D02C52000}"/>
              </a:ext>
            </a:extLst>
          </p:cNvPr>
          <p:cNvGrpSpPr/>
          <p:nvPr/>
        </p:nvGrpSpPr>
        <p:grpSpPr>
          <a:xfrm>
            <a:off x="328962" y="6352621"/>
            <a:ext cx="616375" cy="616375"/>
            <a:chOff x="0" y="0"/>
            <a:chExt cx="812800" cy="812800"/>
          </a:xfrm>
        </p:grpSpPr>
        <p:sp>
          <p:nvSpPr>
            <p:cNvPr id="17" name="Freeform 17">
              <a:extLst>
                <a:ext uri="{FF2B5EF4-FFF2-40B4-BE49-F238E27FC236}">
                  <a16:creationId xmlns:a16="http://schemas.microsoft.com/office/drawing/2014/main" id="{56D8F42C-035A-21E2-7FBC-DD8DBDDF8D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18" name="TextBox 18">
              <a:extLst>
                <a:ext uri="{FF2B5EF4-FFF2-40B4-BE49-F238E27FC236}">
                  <a16:creationId xmlns:a16="http://schemas.microsoft.com/office/drawing/2014/main" id="{9EE96EB2-AF84-E42E-D124-E7E310433801}"/>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9" name="Freeform 19">
            <a:extLst>
              <a:ext uri="{FF2B5EF4-FFF2-40B4-BE49-F238E27FC236}">
                <a16:creationId xmlns:a16="http://schemas.microsoft.com/office/drawing/2014/main" id="{302FB054-9043-8E10-87A5-BEAAD3560FC3}"/>
              </a:ext>
            </a:extLst>
          </p:cNvPr>
          <p:cNvSpPr/>
          <p:nvPr/>
        </p:nvSpPr>
        <p:spPr>
          <a:xfrm>
            <a:off x="478005" y="6496661"/>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20" name="Group 20">
            <a:extLst>
              <a:ext uri="{FF2B5EF4-FFF2-40B4-BE49-F238E27FC236}">
                <a16:creationId xmlns:a16="http://schemas.microsoft.com/office/drawing/2014/main" id="{FE1CA70A-DD0C-563F-03A4-2C21AC0AF4F4}"/>
              </a:ext>
            </a:extLst>
          </p:cNvPr>
          <p:cNvGrpSpPr/>
          <p:nvPr/>
        </p:nvGrpSpPr>
        <p:grpSpPr>
          <a:xfrm>
            <a:off x="317012" y="7839635"/>
            <a:ext cx="601405" cy="601405"/>
            <a:chOff x="0" y="0"/>
            <a:chExt cx="812800" cy="812800"/>
          </a:xfrm>
        </p:grpSpPr>
        <p:sp>
          <p:nvSpPr>
            <p:cNvPr id="21" name="Freeform 21">
              <a:extLst>
                <a:ext uri="{FF2B5EF4-FFF2-40B4-BE49-F238E27FC236}">
                  <a16:creationId xmlns:a16="http://schemas.microsoft.com/office/drawing/2014/main" id="{3B691A96-E8CE-2E00-45D1-295F4CDA15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2" name="TextBox 22">
              <a:extLst>
                <a:ext uri="{FF2B5EF4-FFF2-40B4-BE49-F238E27FC236}">
                  <a16:creationId xmlns:a16="http://schemas.microsoft.com/office/drawing/2014/main" id="{F8B85B85-82DE-37A1-78EA-B16B96A97772}"/>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3" name="Freeform 23">
            <a:extLst>
              <a:ext uri="{FF2B5EF4-FFF2-40B4-BE49-F238E27FC236}">
                <a16:creationId xmlns:a16="http://schemas.microsoft.com/office/drawing/2014/main" id="{1B65532A-A034-4164-7637-625F4C283D5D}"/>
              </a:ext>
            </a:extLst>
          </p:cNvPr>
          <p:cNvSpPr/>
          <p:nvPr/>
        </p:nvSpPr>
        <p:spPr>
          <a:xfrm>
            <a:off x="478005" y="8016561"/>
            <a:ext cx="295160" cy="295160"/>
          </a:xfrm>
          <a:custGeom>
            <a:avLst/>
            <a:gdLst/>
            <a:ahLst/>
            <a:cxnLst/>
            <a:rect l="l" t="t" r="r" b="b"/>
            <a:pathLst>
              <a:path w="295160" h="295160">
                <a:moveTo>
                  <a:pt x="0" y="0"/>
                </a:moveTo>
                <a:lnTo>
                  <a:pt x="295160" y="0"/>
                </a:lnTo>
                <a:lnTo>
                  <a:pt x="295160"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5" name="TextBox 25">
            <a:extLst>
              <a:ext uri="{FF2B5EF4-FFF2-40B4-BE49-F238E27FC236}">
                <a16:creationId xmlns:a16="http://schemas.microsoft.com/office/drawing/2014/main" id="{39CD2CE1-2777-3320-E63C-6BA75ED47CE3}"/>
              </a:ext>
            </a:extLst>
          </p:cNvPr>
          <p:cNvSpPr txBox="1"/>
          <p:nvPr/>
        </p:nvSpPr>
        <p:spPr>
          <a:xfrm>
            <a:off x="9745244" y="816803"/>
            <a:ext cx="7710675" cy="816377"/>
          </a:xfrm>
          <a:prstGeom prst="rect">
            <a:avLst/>
          </a:prstGeom>
        </p:spPr>
        <p:txBody>
          <a:bodyPr lIns="0" tIns="0" rIns="0" bIns="0" rtlCol="0" anchor="t">
            <a:spAutoFit/>
          </a:bodyPr>
          <a:lstStyle/>
          <a:p>
            <a:pPr marL="0" lvl="0" indent="0" algn="r">
              <a:lnSpc>
                <a:spcPts val="6603"/>
              </a:lnSpc>
              <a:spcBef>
                <a:spcPct val="0"/>
              </a:spcBef>
            </a:pPr>
            <a:r>
              <a:rPr lang="en-US" sz="5199" b="1" u="none" strike="noStrike" dirty="0">
                <a:solidFill>
                  <a:srgbClr val="0E2F5F"/>
                </a:solidFill>
                <a:latin typeface="Akzidenz-Grotesk Heavy"/>
                <a:ea typeface="Akzidenz-Grotesk Heavy"/>
                <a:cs typeface="Akzidenz-Grotesk Heavy"/>
                <a:sym typeface="Akzidenz-Grotesk Heavy"/>
              </a:rPr>
              <a:t>Power</a:t>
            </a:r>
            <a:r>
              <a:rPr lang="en-US" sz="5199" b="1" dirty="0">
                <a:solidFill>
                  <a:srgbClr val="0E2F5F"/>
                </a:solidFill>
                <a:latin typeface="Akzidenz-Grotesk Heavy"/>
                <a:ea typeface="Akzidenz-Grotesk Heavy"/>
                <a:cs typeface="Akzidenz-Grotesk Heavy"/>
                <a:sym typeface="Akzidenz-Grotesk Heavy"/>
              </a:rPr>
              <a:t> BI</a:t>
            </a:r>
            <a:r>
              <a:rPr lang="en-US" sz="5199" b="1" u="none" strike="noStrike" dirty="0">
                <a:solidFill>
                  <a:srgbClr val="0E2F5F"/>
                </a:solidFill>
                <a:latin typeface="Akzidenz-Grotesk Heavy"/>
                <a:ea typeface="Akzidenz-Grotesk Heavy"/>
                <a:cs typeface="Akzidenz-Grotesk Heavy"/>
                <a:sym typeface="Akzidenz-Grotesk Heavy"/>
              </a:rPr>
              <a:t> Dashboard</a:t>
            </a:r>
          </a:p>
        </p:txBody>
      </p:sp>
      <p:sp>
        <p:nvSpPr>
          <p:cNvPr id="26" name="TextBox 26">
            <a:extLst>
              <a:ext uri="{FF2B5EF4-FFF2-40B4-BE49-F238E27FC236}">
                <a16:creationId xmlns:a16="http://schemas.microsoft.com/office/drawing/2014/main" id="{E8DFEED8-32F9-A83D-B05C-E76C0D76FFAB}"/>
              </a:ext>
            </a:extLst>
          </p:cNvPr>
          <p:cNvSpPr txBox="1"/>
          <p:nvPr/>
        </p:nvSpPr>
        <p:spPr>
          <a:xfrm>
            <a:off x="127400" y="1619027"/>
            <a:ext cx="3531599" cy="976629"/>
          </a:xfrm>
          <a:prstGeom prst="rect">
            <a:avLst/>
          </a:prstGeom>
        </p:spPr>
        <p:txBody>
          <a:bodyPr lIns="0" tIns="0" rIns="0" bIns="0" rtlCol="0" anchor="t">
            <a:spAutoFit/>
          </a:bodyPr>
          <a:lstStyle/>
          <a:p>
            <a:pPr marL="0" lvl="0" indent="0" algn="just">
              <a:lnSpc>
                <a:spcPts val="3920"/>
              </a:lnSpc>
              <a:spcBef>
                <a:spcPct val="0"/>
              </a:spcBef>
            </a:pPr>
            <a:r>
              <a:rPr lang="en-US" sz="2800" b="1">
                <a:solidFill>
                  <a:srgbClr val="021828"/>
                </a:solidFill>
                <a:latin typeface="Aileron Bold"/>
                <a:ea typeface="Aileron Bold"/>
                <a:cs typeface="Aileron Bold"/>
                <a:sym typeface="Aileron Bold"/>
              </a:rPr>
              <a:t>Featur</a:t>
            </a:r>
            <a:r>
              <a:rPr lang="en-US" sz="2800" b="1" u="none" strike="noStrike">
                <a:solidFill>
                  <a:srgbClr val="021828"/>
                </a:solidFill>
                <a:latin typeface="Aileron Bold"/>
                <a:ea typeface="Aileron Bold"/>
                <a:cs typeface="Aileron Bold"/>
                <a:sym typeface="Aileron Bold"/>
              </a:rPr>
              <a:t>es include:</a:t>
            </a:r>
          </a:p>
          <a:p>
            <a:pPr marL="0" lvl="0" indent="0" algn="just">
              <a:lnSpc>
                <a:spcPts val="3920"/>
              </a:lnSpc>
              <a:spcBef>
                <a:spcPct val="0"/>
              </a:spcBef>
            </a:pPr>
            <a:endParaRPr lang="en-US" sz="2800" b="1" u="none" strike="noStrike">
              <a:solidFill>
                <a:srgbClr val="021828"/>
              </a:solidFill>
              <a:latin typeface="Aileron Bold"/>
              <a:ea typeface="Aileron Bold"/>
              <a:cs typeface="Aileron Bold"/>
              <a:sym typeface="Aileron Bold"/>
            </a:endParaRPr>
          </a:p>
        </p:txBody>
      </p:sp>
      <p:sp>
        <p:nvSpPr>
          <p:cNvPr id="27" name="TextBox 27">
            <a:extLst>
              <a:ext uri="{FF2B5EF4-FFF2-40B4-BE49-F238E27FC236}">
                <a16:creationId xmlns:a16="http://schemas.microsoft.com/office/drawing/2014/main" id="{2A9DDF21-BE56-B908-D1A6-EA1286176385}"/>
              </a:ext>
            </a:extLst>
          </p:cNvPr>
          <p:cNvSpPr txBox="1"/>
          <p:nvPr/>
        </p:nvSpPr>
        <p:spPr>
          <a:xfrm>
            <a:off x="1004331" y="2386105"/>
            <a:ext cx="2410298" cy="923330"/>
          </a:xfrm>
          <a:prstGeom prst="rect">
            <a:avLst/>
          </a:prstGeom>
        </p:spPr>
        <p:txBody>
          <a:bodyPr wrap="square" lIns="0" tIns="0" rIns="0" bIns="0" rtlCol="0" anchor="t">
            <a:spAutoFit/>
          </a:bodyPr>
          <a:lstStyle/>
          <a:p>
            <a:pPr algn="just">
              <a:lnSpc>
                <a:spcPts val="2407"/>
              </a:lnSpc>
            </a:pPr>
            <a:r>
              <a:rPr lang="en-US" sz="2188" b="1" spc="-45" dirty="0">
                <a:solidFill>
                  <a:srgbClr val="0E2F5F"/>
                </a:solidFill>
                <a:latin typeface="Aileron Bold"/>
                <a:ea typeface="Aileron Bold"/>
                <a:cs typeface="Aileron Bold"/>
                <a:sym typeface="Aileron Bold"/>
              </a:rPr>
              <a:t>Total Sales KPI :</a:t>
            </a:r>
            <a:r>
              <a:rPr lang="en-US" sz="2188" spc="-45" dirty="0">
                <a:solidFill>
                  <a:srgbClr val="0E2F5F"/>
                </a:solidFill>
                <a:latin typeface="Aileron"/>
                <a:ea typeface="Aileron"/>
                <a:cs typeface="Aileron"/>
                <a:sym typeface="Aileron"/>
              </a:rPr>
              <a:t> Total Sales with last year profit and loss</a:t>
            </a:r>
          </a:p>
        </p:txBody>
      </p:sp>
      <p:sp>
        <p:nvSpPr>
          <p:cNvPr id="28" name="TextBox 28">
            <a:extLst>
              <a:ext uri="{FF2B5EF4-FFF2-40B4-BE49-F238E27FC236}">
                <a16:creationId xmlns:a16="http://schemas.microsoft.com/office/drawing/2014/main" id="{BF157518-A07E-8E99-3713-B225B07CBB5E}"/>
              </a:ext>
            </a:extLst>
          </p:cNvPr>
          <p:cNvSpPr txBox="1"/>
          <p:nvPr/>
        </p:nvSpPr>
        <p:spPr>
          <a:xfrm>
            <a:off x="4081761" y="1885961"/>
            <a:ext cx="14058473" cy="825529"/>
          </a:xfrm>
          <a:prstGeom prst="rect">
            <a:avLst/>
          </a:prstGeom>
        </p:spPr>
        <p:txBody>
          <a:bodyPr lIns="0" tIns="0" rIns="0" bIns="0" rtlCol="0" anchor="t">
            <a:spAutoFit/>
          </a:bodyPr>
          <a:lstStyle/>
          <a:p>
            <a:pPr marL="512519" lvl="1" indent="-256259" algn="just">
              <a:lnSpc>
                <a:spcPts val="3323"/>
              </a:lnSpc>
              <a:buFont typeface="Arial"/>
              <a:buChar char="•"/>
            </a:pPr>
            <a:r>
              <a:rPr lang="en-US" sz="2373" b="1">
                <a:solidFill>
                  <a:srgbClr val="0E2F5F"/>
                </a:solidFill>
                <a:latin typeface="Aileron Ultra-Bold"/>
                <a:ea typeface="Aileron Ultra-Bold"/>
                <a:cs typeface="Aileron Ultra-Bold"/>
                <a:sym typeface="Aileron Ultra-Bold"/>
              </a:rPr>
              <a:t>We developed a professional, interactive dashboard in Tableau to empower users with dynamic visual storytelling and intuitive data exploration.</a:t>
            </a:r>
          </a:p>
        </p:txBody>
      </p:sp>
      <p:sp>
        <p:nvSpPr>
          <p:cNvPr id="29" name="TextBox 29">
            <a:extLst>
              <a:ext uri="{FF2B5EF4-FFF2-40B4-BE49-F238E27FC236}">
                <a16:creationId xmlns:a16="http://schemas.microsoft.com/office/drawing/2014/main" id="{7635F3D7-48E9-324D-4FF5-5DA32034B91A}"/>
              </a:ext>
            </a:extLst>
          </p:cNvPr>
          <p:cNvSpPr txBox="1"/>
          <p:nvPr/>
        </p:nvSpPr>
        <p:spPr>
          <a:xfrm>
            <a:off x="1118446" y="3524241"/>
            <a:ext cx="2244931" cy="1474763"/>
          </a:xfrm>
          <a:prstGeom prst="rect">
            <a:avLst/>
          </a:prstGeom>
        </p:spPr>
        <p:txBody>
          <a:bodyPr lIns="0" tIns="0" rIns="0" bIns="0" rtlCol="0" anchor="t">
            <a:spAutoFit/>
          </a:bodyPr>
          <a:lstStyle/>
          <a:p>
            <a:pPr algn="just">
              <a:lnSpc>
                <a:spcPts val="2348"/>
              </a:lnSpc>
            </a:pPr>
            <a:r>
              <a:rPr lang="en-US" sz="2134" b="1" spc="-44" dirty="0">
                <a:solidFill>
                  <a:srgbClr val="0E2F5F"/>
                </a:solidFill>
                <a:latin typeface="Aileron Bold"/>
                <a:ea typeface="Aileron Bold"/>
                <a:cs typeface="Aileron Bold"/>
                <a:sym typeface="Aileron Bold"/>
              </a:rPr>
              <a:t>Top 10 Sales Category Bar Chart</a:t>
            </a:r>
            <a:r>
              <a:rPr lang="en-US" sz="2134" spc="-44" dirty="0">
                <a:solidFill>
                  <a:srgbClr val="0E2F5F"/>
                </a:solidFill>
                <a:latin typeface="Aileron"/>
                <a:ea typeface="Aileron"/>
                <a:cs typeface="Aileron"/>
                <a:sym typeface="Aileron"/>
              </a:rPr>
              <a:t> : Most in-demand Products.</a:t>
            </a:r>
          </a:p>
          <a:p>
            <a:pPr algn="just">
              <a:lnSpc>
                <a:spcPts val="2348"/>
              </a:lnSpc>
            </a:pPr>
            <a:endParaRPr lang="en-US" sz="2134" spc="-44" dirty="0">
              <a:solidFill>
                <a:srgbClr val="0E2F5F"/>
              </a:solidFill>
              <a:latin typeface="Aileron"/>
              <a:ea typeface="Aileron"/>
              <a:cs typeface="Aileron"/>
              <a:sym typeface="Aileron"/>
            </a:endParaRPr>
          </a:p>
        </p:txBody>
      </p:sp>
      <p:sp>
        <p:nvSpPr>
          <p:cNvPr id="31" name="TextBox 31">
            <a:extLst>
              <a:ext uri="{FF2B5EF4-FFF2-40B4-BE49-F238E27FC236}">
                <a16:creationId xmlns:a16="http://schemas.microsoft.com/office/drawing/2014/main" id="{06CBA71D-526A-90E7-6117-A8C2B6C199C1}"/>
              </a:ext>
            </a:extLst>
          </p:cNvPr>
          <p:cNvSpPr txBox="1"/>
          <p:nvPr/>
        </p:nvSpPr>
        <p:spPr>
          <a:xfrm>
            <a:off x="1051717" y="4972130"/>
            <a:ext cx="2410298" cy="1077218"/>
          </a:xfrm>
          <a:prstGeom prst="rect">
            <a:avLst/>
          </a:prstGeom>
        </p:spPr>
        <p:txBody>
          <a:bodyPr lIns="0" tIns="0" rIns="0" bIns="0" rtlCol="0" anchor="t">
            <a:spAutoFit/>
          </a:bodyPr>
          <a:lstStyle/>
          <a:p>
            <a:pPr algn="just">
              <a:lnSpc>
                <a:spcPts val="2083"/>
              </a:lnSpc>
            </a:pPr>
            <a:r>
              <a:rPr lang="en-US" sz="1894" b="1" spc="189" dirty="0">
                <a:solidFill>
                  <a:srgbClr val="0E2F5F"/>
                </a:solidFill>
                <a:latin typeface="Aileron Bold"/>
                <a:ea typeface="Aileron Bold"/>
                <a:cs typeface="Aileron Bold"/>
                <a:sym typeface="Aileron Bold"/>
              </a:rPr>
              <a:t>Net Amount Pie Chart :</a:t>
            </a:r>
            <a:r>
              <a:rPr lang="en-US" sz="1894" spc="189" dirty="0">
                <a:solidFill>
                  <a:srgbClr val="0E2F5F"/>
                </a:solidFill>
                <a:latin typeface="Aileron"/>
                <a:ea typeface="Aileron"/>
                <a:cs typeface="Aileron"/>
                <a:sym typeface="Aileron"/>
              </a:rPr>
              <a:t> Product category with Percentage</a:t>
            </a:r>
          </a:p>
        </p:txBody>
      </p:sp>
      <p:sp>
        <p:nvSpPr>
          <p:cNvPr id="32" name="TextBox 32">
            <a:extLst>
              <a:ext uri="{FF2B5EF4-FFF2-40B4-BE49-F238E27FC236}">
                <a16:creationId xmlns:a16="http://schemas.microsoft.com/office/drawing/2014/main" id="{F284C320-5B73-E7A2-8344-EA9DAFBCD3C6}"/>
              </a:ext>
            </a:extLst>
          </p:cNvPr>
          <p:cNvSpPr txBox="1"/>
          <p:nvPr/>
        </p:nvSpPr>
        <p:spPr>
          <a:xfrm>
            <a:off x="1021491" y="6467890"/>
            <a:ext cx="2397438" cy="1077218"/>
          </a:xfrm>
          <a:prstGeom prst="rect">
            <a:avLst/>
          </a:prstGeom>
        </p:spPr>
        <p:txBody>
          <a:bodyPr lIns="0" tIns="0" rIns="0" bIns="0" rtlCol="0" anchor="t">
            <a:spAutoFit/>
          </a:bodyPr>
          <a:lstStyle/>
          <a:p>
            <a:pPr algn="just">
              <a:lnSpc>
                <a:spcPts val="2083"/>
              </a:lnSpc>
            </a:pPr>
            <a:r>
              <a:rPr lang="en-US" sz="1894" b="1" spc="189" dirty="0">
                <a:solidFill>
                  <a:srgbClr val="0E2F5F"/>
                </a:solidFill>
                <a:latin typeface="Aileron Bold"/>
                <a:ea typeface="Aileron Bold"/>
                <a:cs typeface="Aileron Bold"/>
                <a:sym typeface="Aileron Bold"/>
              </a:rPr>
              <a:t>Geographic Map</a:t>
            </a:r>
            <a:r>
              <a:rPr lang="en-US" sz="1894" spc="189" dirty="0">
                <a:solidFill>
                  <a:srgbClr val="0E2F5F"/>
                </a:solidFill>
                <a:latin typeface="Aileron"/>
                <a:ea typeface="Aileron"/>
                <a:cs typeface="Aileron"/>
                <a:sym typeface="Aileron"/>
              </a:rPr>
              <a:t> : Most Sales by City insights in a Geographic map</a:t>
            </a:r>
          </a:p>
        </p:txBody>
      </p:sp>
      <p:sp>
        <p:nvSpPr>
          <p:cNvPr id="33" name="TextBox 33">
            <a:extLst>
              <a:ext uri="{FF2B5EF4-FFF2-40B4-BE49-F238E27FC236}">
                <a16:creationId xmlns:a16="http://schemas.microsoft.com/office/drawing/2014/main" id="{8148CB16-2086-77D5-5BDC-AE7A07E6C35B}"/>
              </a:ext>
            </a:extLst>
          </p:cNvPr>
          <p:cNvSpPr txBox="1"/>
          <p:nvPr/>
        </p:nvSpPr>
        <p:spPr>
          <a:xfrm>
            <a:off x="1076342" y="7861519"/>
            <a:ext cx="2255306" cy="591880"/>
          </a:xfrm>
          <a:prstGeom prst="rect">
            <a:avLst/>
          </a:prstGeom>
        </p:spPr>
        <p:txBody>
          <a:bodyPr lIns="0" tIns="0" rIns="0" bIns="0" rtlCol="0" anchor="t">
            <a:spAutoFit/>
          </a:bodyPr>
          <a:lstStyle/>
          <a:p>
            <a:pPr algn="just">
              <a:lnSpc>
                <a:spcPts val="2327"/>
              </a:lnSpc>
            </a:pPr>
            <a:r>
              <a:rPr lang="en-US" sz="2115" b="1" spc="211" dirty="0">
                <a:solidFill>
                  <a:srgbClr val="0E2F5F"/>
                </a:solidFill>
                <a:latin typeface="Aileron Bold"/>
                <a:ea typeface="Aileron Bold"/>
                <a:cs typeface="Aileron Bold"/>
                <a:sym typeface="Aileron Bold"/>
              </a:rPr>
              <a:t>Interactive Filters: </a:t>
            </a:r>
          </a:p>
        </p:txBody>
      </p:sp>
      <p:grpSp>
        <p:nvGrpSpPr>
          <p:cNvPr id="38" name="Group 38">
            <a:extLst>
              <a:ext uri="{FF2B5EF4-FFF2-40B4-BE49-F238E27FC236}">
                <a16:creationId xmlns:a16="http://schemas.microsoft.com/office/drawing/2014/main" id="{6CE5767E-7F70-33D3-2819-2D6C416C33F6}"/>
              </a:ext>
            </a:extLst>
          </p:cNvPr>
          <p:cNvGrpSpPr/>
          <p:nvPr/>
        </p:nvGrpSpPr>
        <p:grpSpPr>
          <a:xfrm>
            <a:off x="342416" y="3595325"/>
            <a:ext cx="616375" cy="616375"/>
            <a:chOff x="0" y="0"/>
            <a:chExt cx="812800" cy="812800"/>
          </a:xfrm>
        </p:grpSpPr>
        <p:sp>
          <p:nvSpPr>
            <p:cNvPr id="39" name="Freeform 39">
              <a:extLst>
                <a:ext uri="{FF2B5EF4-FFF2-40B4-BE49-F238E27FC236}">
                  <a16:creationId xmlns:a16="http://schemas.microsoft.com/office/drawing/2014/main" id="{83C33447-F8F6-0396-B332-4D9988E3C6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40" name="TextBox 40">
              <a:extLst>
                <a:ext uri="{FF2B5EF4-FFF2-40B4-BE49-F238E27FC236}">
                  <a16:creationId xmlns:a16="http://schemas.microsoft.com/office/drawing/2014/main" id="{9B999D02-B3D5-0DC7-8EC8-0C7DF5B94533}"/>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41" name="Freeform 41">
            <a:extLst>
              <a:ext uri="{FF2B5EF4-FFF2-40B4-BE49-F238E27FC236}">
                <a16:creationId xmlns:a16="http://schemas.microsoft.com/office/drawing/2014/main" id="{E3B1AE3D-B1EA-F4ED-1518-99EA4B3C415D}"/>
              </a:ext>
            </a:extLst>
          </p:cNvPr>
          <p:cNvSpPr/>
          <p:nvPr/>
        </p:nvSpPr>
        <p:spPr>
          <a:xfrm>
            <a:off x="495539" y="3755933"/>
            <a:ext cx="295160" cy="295160"/>
          </a:xfrm>
          <a:custGeom>
            <a:avLst/>
            <a:gdLst/>
            <a:ahLst/>
            <a:cxnLst/>
            <a:rect l="l" t="t" r="r" b="b"/>
            <a:pathLst>
              <a:path w="295160" h="295160">
                <a:moveTo>
                  <a:pt x="0" y="0"/>
                </a:moveTo>
                <a:lnTo>
                  <a:pt x="295159" y="0"/>
                </a:lnTo>
                <a:lnTo>
                  <a:pt x="295159" y="295160"/>
                </a:lnTo>
                <a:lnTo>
                  <a:pt x="0" y="295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30" name="Picture 29">
            <a:extLst>
              <a:ext uri="{FF2B5EF4-FFF2-40B4-BE49-F238E27FC236}">
                <a16:creationId xmlns:a16="http://schemas.microsoft.com/office/drawing/2014/main" id="{E9C9C9BC-A4D8-3CF2-15A0-29F427011768}"/>
              </a:ext>
            </a:extLst>
          </p:cNvPr>
          <p:cNvPicPr>
            <a:picLocks noChangeAspect="1"/>
          </p:cNvPicPr>
          <p:nvPr/>
        </p:nvPicPr>
        <p:blipFill>
          <a:blip r:embed="rId8"/>
          <a:stretch>
            <a:fillRect/>
          </a:stretch>
        </p:blipFill>
        <p:spPr>
          <a:xfrm>
            <a:off x="4044419" y="2753797"/>
            <a:ext cx="13748040" cy="7300774"/>
          </a:xfrm>
          <a:prstGeom prst="rect">
            <a:avLst/>
          </a:prstGeom>
        </p:spPr>
      </p:pic>
    </p:spTree>
    <p:extLst>
      <p:ext uri="{BB962C8B-B14F-4D97-AF65-F5344CB8AC3E}">
        <p14:creationId xmlns:p14="http://schemas.microsoft.com/office/powerpoint/2010/main" val="105542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43241" y="2624164"/>
            <a:ext cx="14540478" cy="3019564"/>
            <a:chOff x="0" y="0"/>
            <a:chExt cx="3829591" cy="795276"/>
          </a:xfrm>
        </p:grpSpPr>
        <p:sp>
          <p:nvSpPr>
            <p:cNvPr id="3" name="Freeform 3"/>
            <p:cNvSpPr/>
            <p:nvPr/>
          </p:nvSpPr>
          <p:spPr>
            <a:xfrm>
              <a:off x="0" y="0"/>
              <a:ext cx="3829591" cy="795276"/>
            </a:xfrm>
            <a:custGeom>
              <a:avLst/>
              <a:gdLst/>
              <a:ahLst/>
              <a:cxnLst/>
              <a:rect l="l" t="t" r="r" b="b"/>
              <a:pathLst>
                <a:path w="3829591" h="795276">
                  <a:moveTo>
                    <a:pt x="35673" y="0"/>
                  </a:moveTo>
                  <a:lnTo>
                    <a:pt x="3793918" y="0"/>
                  </a:lnTo>
                  <a:cubicBezTo>
                    <a:pt x="3813620" y="0"/>
                    <a:pt x="3829591" y="15972"/>
                    <a:pt x="3829591" y="35673"/>
                  </a:cubicBezTo>
                  <a:lnTo>
                    <a:pt x="3829591" y="759603"/>
                  </a:lnTo>
                  <a:cubicBezTo>
                    <a:pt x="3829591" y="779305"/>
                    <a:pt x="3813620" y="795276"/>
                    <a:pt x="3793918" y="795276"/>
                  </a:cubicBezTo>
                  <a:lnTo>
                    <a:pt x="35673" y="795276"/>
                  </a:lnTo>
                  <a:cubicBezTo>
                    <a:pt x="15972" y="795276"/>
                    <a:pt x="0" y="779305"/>
                    <a:pt x="0" y="759603"/>
                  </a:cubicBezTo>
                  <a:lnTo>
                    <a:pt x="0" y="35673"/>
                  </a:lnTo>
                  <a:cubicBezTo>
                    <a:pt x="0" y="15972"/>
                    <a:pt x="15972" y="0"/>
                    <a:pt x="35673" y="0"/>
                  </a:cubicBezTo>
                  <a:close/>
                </a:path>
              </a:pathLst>
            </a:custGeom>
            <a:solidFill>
              <a:srgbClr val="E1EDFC"/>
            </a:solidFill>
            <a:ln cap="rnd">
              <a:noFill/>
              <a:prstDash val="solid"/>
              <a:round/>
            </a:ln>
          </p:spPr>
          <p:txBody>
            <a:bodyPr/>
            <a:lstStyle/>
            <a:p>
              <a:endParaRPr lang="en-IN"/>
            </a:p>
          </p:txBody>
        </p:sp>
        <p:sp>
          <p:nvSpPr>
            <p:cNvPr id="4" name="TextBox 4"/>
            <p:cNvSpPr txBox="1"/>
            <p:nvPr/>
          </p:nvSpPr>
          <p:spPr>
            <a:xfrm>
              <a:off x="0" y="-47625"/>
              <a:ext cx="3829591" cy="842901"/>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8966333" y="3311291"/>
            <a:ext cx="4048806" cy="665701"/>
            <a:chOff x="0" y="0"/>
            <a:chExt cx="1066352" cy="175329"/>
          </a:xfrm>
        </p:grpSpPr>
        <p:sp>
          <p:nvSpPr>
            <p:cNvPr id="6" name="Freeform 6"/>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7" name="TextBox 7"/>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722171" y="3307765"/>
            <a:ext cx="4048806" cy="665701"/>
            <a:chOff x="0" y="0"/>
            <a:chExt cx="1066352" cy="175329"/>
          </a:xfrm>
        </p:grpSpPr>
        <p:sp>
          <p:nvSpPr>
            <p:cNvPr id="9" name="Freeform 9"/>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10" name="TextBox 10"/>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a:off x="13210494" y="3301766"/>
            <a:ext cx="4048806" cy="665701"/>
            <a:chOff x="0" y="0"/>
            <a:chExt cx="1066352" cy="175329"/>
          </a:xfrm>
        </p:grpSpPr>
        <p:sp>
          <p:nvSpPr>
            <p:cNvPr id="12" name="Freeform 12"/>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13" name="TextBox 13"/>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sp>
        <p:nvSpPr>
          <p:cNvPr id="14" name="AutoShape 14"/>
          <p:cNvSpPr/>
          <p:nvPr/>
        </p:nvSpPr>
        <p:spPr>
          <a:xfrm>
            <a:off x="6859775" y="2386386"/>
            <a:ext cx="12960534" cy="0"/>
          </a:xfrm>
          <a:prstGeom prst="line">
            <a:avLst/>
          </a:prstGeom>
          <a:ln w="38100" cap="flat">
            <a:solidFill>
              <a:srgbClr val="5188CC"/>
            </a:solidFill>
            <a:prstDash val="solid"/>
            <a:headEnd type="none" w="sm" len="sm"/>
            <a:tailEnd type="none" w="sm" len="sm"/>
          </a:ln>
        </p:spPr>
        <p:txBody>
          <a:bodyPr/>
          <a:lstStyle/>
          <a:p>
            <a:endParaRPr lang="en-IN"/>
          </a:p>
        </p:txBody>
      </p:sp>
      <p:grpSp>
        <p:nvGrpSpPr>
          <p:cNvPr id="15" name="Group 15"/>
          <p:cNvGrpSpPr/>
          <p:nvPr/>
        </p:nvGrpSpPr>
        <p:grpSpPr>
          <a:xfrm>
            <a:off x="6301098" y="1955219"/>
            <a:ext cx="890951" cy="89095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8" name="Group 18"/>
          <p:cNvGrpSpPr/>
          <p:nvPr/>
        </p:nvGrpSpPr>
        <p:grpSpPr>
          <a:xfrm>
            <a:off x="2388814" y="6441493"/>
            <a:ext cx="13644026" cy="3062447"/>
            <a:chOff x="0" y="0"/>
            <a:chExt cx="3593488" cy="806571"/>
          </a:xfrm>
        </p:grpSpPr>
        <p:sp>
          <p:nvSpPr>
            <p:cNvPr id="19" name="Freeform 19"/>
            <p:cNvSpPr/>
            <p:nvPr/>
          </p:nvSpPr>
          <p:spPr>
            <a:xfrm>
              <a:off x="0" y="0"/>
              <a:ext cx="3593488" cy="806571"/>
            </a:xfrm>
            <a:custGeom>
              <a:avLst/>
              <a:gdLst/>
              <a:ahLst/>
              <a:cxnLst/>
              <a:rect l="l" t="t" r="r" b="b"/>
              <a:pathLst>
                <a:path w="3593488" h="806571">
                  <a:moveTo>
                    <a:pt x="47663" y="0"/>
                  </a:moveTo>
                  <a:lnTo>
                    <a:pt x="3545825" y="0"/>
                  </a:lnTo>
                  <a:cubicBezTo>
                    <a:pt x="3558466" y="0"/>
                    <a:pt x="3570589" y="5022"/>
                    <a:pt x="3579528" y="13960"/>
                  </a:cubicBezTo>
                  <a:cubicBezTo>
                    <a:pt x="3588467" y="22899"/>
                    <a:pt x="3593488" y="35022"/>
                    <a:pt x="3593488" y="47663"/>
                  </a:cubicBezTo>
                  <a:lnTo>
                    <a:pt x="3593488" y="758907"/>
                  </a:lnTo>
                  <a:cubicBezTo>
                    <a:pt x="3593488" y="771548"/>
                    <a:pt x="3588467" y="783672"/>
                    <a:pt x="3579528" y="792610"/>
                  </a:cubicBezTo>
                  <a:cubicBezTo>
                    <a:pt x="3570589" y="801549"/>
                    <a:pt x="3558466" y="806571"/>
                    <a:pt x="3545825" y="806571"/>
                  </a:cubicBezTo>
                  <a:lnTo>
                    <a:pt x="47663" y="806571"/>
                  </a:lnTo>
                  <a:cubicBezTo>
                    <a:pt x="35022" y="806571"/>
                    <a:pt x="22899" y="801549"/>
                    <a:pt x="13960" y="792610"/>
                  </a:cubicBezTo>
                  <a:cubicBezTo>
                    <a:pt x="5022" y="783672"/>
                    <a:pt x="0" y="771548"/>
                    <a:pt x="0" y="758907"/>
                  </a:cubicBezTo>
                  <a:lnTo>
                    <a:pt x="0" y="47663"/>
                  </a:lnTo>
                  <a:cubicBezTo>
                    <a:pt x="0" y="35022"/>
                    <a:pt x="5022" y="22899"/>
                    <a:pt x="13960" y="13960"/>
                  </a:cubicBezTo>
                  <a:cubicBezTo>
                    <a:pt x="22899" y="5022"/>
                    <a:pt x="35022" y="0"/>
                    <a:pt x="47663" y="0"/>
                  </a:cubicBezTo>
                  <a:close/>
                </a:path>
              </a:pathLst>
            </a:custGeom>
            <a:solidFill>
              <a:srgbClr val="E1EDFC"/>
            </a:solidFill>
            <a:ln cap="rnd">
              <a:noFill/>
              <a:prstDash val="solid"/>
              <a:round/>
            </a:ln>
          </p:spPr>
          <p:txBody>
            <a:bodyPr/>
            <a:lstStyle/>
            <a:p>
              <a:endParaRPr lang="en-IN"/>
            </a:p>
          </p:txBody>
        </p:sp>
        <p:sp>
          <p:nvSpPr>
            <p:cNvPr id="20" name="TextBox 20"/>
            <p:cNvSpPr txBox="1"/>
            <p:nvPr/>
          </p:nvSpPr>
          <p:spPr>
            <a:xfrm>
              <a:off x="0" y="-47625"/>
              <a:ext cx="3593488" cy="854196"/>
            </a:xfrm>
            <a:prstGeom prst="rect">
              <a:avLst/>
            </a:prstGeom>
          </p:spPr>
          <p:txBody>
            <a:bodyPr lIns="50800" tIns="50800" rIns="50800" bIns="50800" rtlCol="0" anchor="ctr"/>
            <a:lstStyle/>
            <a:p>
              <a:pPr algn="ctr">
                <a:lnSpc>
                  <a:spcPts val="2800"/>
                </a:lnSpc>
              </a:pPr>
              <a:endParaRPr/>
            </a:p>
          </p:txBody>
        </p:sp>
      </p:grpSp>
      <p:grpSp>
        <p:nvGrpSpPr>
          <p:cNvPr id="21" name="Group 21"/>
          <p:cNvGrpSpPr/>
          <p:nvPr/>
        </p:nvGrpSpPr>
        <p:grpSpPr>
          <a:xfrm>
            <a:off x="10554785" y="1982189"/>
            <a:ext cx="890951" cy="89095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24" name="Group 24"/>
          <p:cNvGrpSpPr/>
          <p:nvPr/>
        </p:nvGrpSpPr>
        <p:grpSpPr>
          <a:xfrm>
            <a:off x="14808471" y="1974269"/>
            <a:ext cx="890951" cy="89095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7" name="Freeform 27"/>
          <p:cNvSpPr/>
          <p:nvPr/>
        </p:nvSpPr>
        <p:spPr>
          <a:xfrm rot="5400000">
            <a:off x="6561205" y="2224851"/>
            <a:ext cx="389788" cy="389788"/>
          </a:xfrm>
          <a:custGeom>
            <a:avLst/>
            <a:gdLst/>
            <a:ahLst/>
            <a:cxnLst/>
            <a:rect l="l" t="t" r="r" b="b"/>
            <a:pathLst>
              <a:path w="389788" h="389788">
                <a:moveTo>
                  <a:pt x="0" y="0"/>
                </a:moveTo>
                <a:lnTo>
                  <a:pt x="389788" y="0"/>
                </a:lnTo>
                <a:lnTo>
                  <a:pt x="389788" y="389788"/>
                </a:lnTo>
                <a:lnTo>
                  <a:pt x="0" y="3897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8" name="Freeform 28"/>
          <p:cNvSpPr/>
          <p:nvPr/>
        </p:nvSpPr>
        <p:spPr>
          <a:xfrm rot="5400000">
            <a:off x="10813469" y="2234376"/>
            <a:ext cx="389788" cy="389788"/>
          </a:xfrm>
          <a:custGeom>
            <a:avLst/>
            <a:gdLst/>
            <a:ahLst/>
            <a:cxnLst/>
            <a:rect l="l" t="t" r="r" b="b"/>
            <a:pathLst>
              <a:path w="389788" h="389788">
                <a:moveTo>
                  <a:pt x="0" y="0"/>
                </a:moveTo>
                <a:lnTo>
                  <a:pt x="389788" y="0"/>
                </a:lnTo>
                <a:lnTo>
                  <a:pt x="389788" y="389788"/>
                </a:lnTo>
                <a:lnTo>
                  <a:pt x="0" y="3897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9" name="Freeform 29"/>
          <p:cNvSpPr/>
          <p:nvPr/>
        </p:nvSpPr>
        <p:spPr>
          <a:xfrm rot="5400000">
            <a:off x="15059053" y="2234376"/>
            <a:ext cx="389788" cy="389788"/>
          </a:xfrm>
          <a:custGeom>
            <a:avLst/>
            <a:gdLst/>
            <a:ahLst/>
            <a:cxnLst/>
            <a:rect l="l" t="t" r="r" b="b"/>
            <a:pathLst>
              <a:path w="389788" h="389788">
                <a:moveTo>
                  <a:pt x="0" y="0"/>
                </a:moveTo>
                <a:lnTo>
                  <a:pt x="389788" y="0"/>
                </a:lnTo>
                <a:lnTo>
                  <a:pt x="389788" y="389788"/>
                </a:lnTo>
                <a:lnTo>
                  <a:pt x="0" y="3897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0" name="Group 30"/>
          <p:cNvGrpSpPr/>
          <p:nvPr/>
        </p:nvGrpSpPr>
        <p:grpSpPr>
          <a:xfrm>
            <a:off x="0" y="-27349"/>
            <a:ext cx="3176441" cy="10287000"/>
            <a:chOff x="0" y="0"/>
            <a:chExt cx="492114" cy="1593725"/>
          </a:xfrm>
        </p:grpSpPr>
        <p:sp>
          <p:nvSpPr>
            <p:cNvPr id="31" name="Freeform 31"/>
            <p:cNvSpPr/>
            <p:nvPr/>
          </p:nvSpPr>
          <p:spPr>
            <a:xfrm>
              <a:off x="0" y="0"/>
              <a:ext cx="492114" cy="1593725"/>
            </a:xfrm>
            <a:custGeom>
              <a:avLst/>
              <a:gdLst/>
              <a:ahLst/>
              <a:cxnLst/>
              <a:rect l="l" t="t" r="r" b="b"/>
              <a:pathLst>
                <a:path w="492114" h="1593725">
                  <a:moveTo>
                    <a:pt x="0" y="0"/>
                  </a:moveTo>
                  <a:lnTo>
                    <a:pt x="492114" y="0"/>
                  </a:lnTo>
                  <a:lnTo>
                    <a:pt x="492114" y="1593725"/>
                  </a:lnTo>
                  <a:lnTo>
                    <a:pt x="0" y="1593725"/>
                  </a:lnTo>
                  <a:close/>
                </a:path>
              </a:pathLst>
            </a:custGeom>
            <a:blipFill>
              <a:blip r:embed="rId4"/>
              <a:stretch>
                <a:fillRect l="-40204" r="-76122"/>
              </a:stretch>
            </a:blipFill>
          </p:spPr>
          <p:txBody>
            <a:bodyPr/>
            <a:lstStyle/>
            <a:p>
              <a:endParaRPr lang="en-IN"/>
            </a:p>
          </p:txBody>
        </p:sp>
      </p:grpSp>
      <p:sp>
        <p:nvSpPr>
          <p:cNvPr id="32" name="Freeform 32"/>
          <p:cNvSpPr/>
          <p:nvPr/>
        </p:nvSpPr>
        <p:spPr>
          <a:xfrm>
            <a:off x="4243241" y="-1845934"/>
            <a:ext cx="3691868" cy="3691868"/>
          </a:xfrm>
          <a:custGeom>
            <a:avLst/>
            <a:gdLst/>
            <a:ahLst/>
            <a:cxnLst/>
            <a:rect l="l" t="t" r="r" b="b"/>
            <a:pathLst>
              <a:path w="3691868" h="3691868">
                <a:moveTo>
                  <a:pt x="0" y="0"/>
                </a:moveTo>
                <a:lnTo>
                  <a:pt x="3691868" y="0"/>
                </a:lnTo>
                <a:lnTo>
                  <a:pt x="3691868" y="3691868"/>
                </a:lnTo>
                <a:lnTo>
                  <a:pt x="0" y="36918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33" name="Freeform 33"/>
          <p:cNvSpPr/>
          <p:nvPr/>
        </p:nvSpPr>
        <p:spPr>
          <a:xfrm>
            <a:off x="16525745" y="9503940"/>
            <a:ext cx="1226460" cy="379088"/>
          </a:xfrm>
          <a:custGeom>
            <a:avLst/>
            <a:gdLst/>
            <a:ahLst/>
            <a:cxnLst/>
            <a:rect l="l" t="t" r="r" b="b"/>
            <a:pathLst>
              <a:path w="1226460" h="379088">
                <a:moveTo>
                  <a:pt x="0" y="0"/>
                </a:moveTo>
                <a:lnTo>
                  <a:pt x="1226460" y="0"/>
                </a:lnTo>
                <a:lnTo>
                  <a:pt x="1226460" y="379088"/>
                </a:lnTo>
                <a:lnTo>
                  <a:pt x="0" y="3790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grpSp>
        <p:nvGrpSpPr>
          <p:cNvPr id="34" name="Group 34"/>
          <p:cNvGrpSpPr/>
          <p:nvPr/>
        </p:nvGrpSpPr>
        <p:grpSpPr>
          <a:xfrm>
            <a:off x="4785857" y="6863135"/>
            <a:ext cx="4048806" cy="665701"/>
            <a:chOff x="0" y="0"/>
            <a:chExt cx="1066352" cy="175329"/>
          </a:xfrm>
        </p:grpSpPr>
        <p:sp>
          <p:nvSpPr>
            <p:cNvPr id="35" name="Freeform 35"/>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36" name="TextBox 36"/>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grpSp>
        <p:nvGrpSpPr>
          <p:cNvPr id="37" name="Group 37"/>
          <p:cNvGrpSpPr/>
          <p:nvPr/>
        </p:nvGrpSpPr>
        <p:grpSpPr>
          <a:xfrm>
            <a:off x="10126198" y="6863135"/>
            <a:ext cx="4048806" cy="665701"/>
            <a:chOff x="0" y="0"/>
            <a:chExt cx="1066352" cy="175329"/>
          </a:xfrm>
        </p:grpSpPr>
        <p:sp>
          <p:nvSpPr>
            <p:cNvPr id="38" name="Freeform 38"/>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39" name="TextBox 39"/>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sp>
        <p:nvSpPr>
          <p:cNvPr id="40" name="AutoShape 40"/>
          <p:cNvSpPr/>
          <p:nvPr/>
        </p:nvSpPr>
        <p:spPr>
          <a:xfrm>
            <a:off x="3176441" y="6212503"/>
            <a:ext cx="9219220" cy="0"/>
          </a:xfrm>
          <a:prstGeom prst="line">
            <a:avLst/>
          </a:prstGeom>
          <a:ln w="38100" cap="flat">
            <a:solidFill>
              <a:srgbClr val="5188CC"/>
            </a:solidFill>
            <a:prstDash val="solid"/>
            <a:headEnd type="none" w="sm" len="sm"/>
            <a:tailEnd type="none" w="sm" len="sm"/>
          </a:ln>
        </p:spPr>
        <p:txBody>
          <a:bodyPr/>
          <a:lstStyle/>
          <a:p>
            <a:endParaRPr lang="en-IN"/>
          </a:p>
        </p:txBody>
      </p:sp>
      <p:grpSp>
        <p:nvGrpSpPr>
          <p:cNvPr id="41" name="Group 41"/>
          <p:cNvGrpSpPr/>
          <p:nvPr/>
        </p:nvGrpSpPr>
        <p:grpSpPr>
          <a:xfrm>
            <a:off x="6310623" y="5747977"/>
            <a:ext cx="890951" cy="890951"/>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43" name="TextBox 4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44" name="Group 44"/>
          <p:cNvGrpSpPr/>
          <p:nvPr/>
        </p:nvGrpSpPr>
        <p:grpSpPr>
          <a:xfrm>
            <a:off x="11764816" y="5724533"/>
            <a:ext cx="890951" cy="890951"/>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46" name="TextBox 46"/>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47" name="Freeform 47"/>
          <p:cNvSpPr/>
          <p:nvPr/>
        </p:nvSpPr>
        <p:spPr>
          <a:xfrm rot="5400000">
            <a:off x="6570730" y="5998559"/>
            <a:ext cx="389788" cy="389788"/>
          </a:xfrm>
          <a:custGeom>
            <a:avLst/>
            <a:gdLst/>
            <a:ahLst/>
            <a:cxnLst/>
            <a:rect l="l" t="t" r="r" b="b"/>
            <a:pathLst>
              <a:path w="389788" h="389788">
                <a:moveTo>
                  <a:pt x="0" y="0"/>
                </a:moveTo>
                <a:lnTo>
                  <a:pt x="389788" y="0"/>
                </a:lnTo>
                <a:lnTo>
                  <a:pt x="389788" y="389788"/>
                </a:lnTo>
                <a:lnTo>
                  <a:pt x="0" y="3897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8" name="Freeform 48"/>
          <p:cNvSpPr/>
          <p:nvPr/>
        </p:nvSpPr>
        <p:spPr>
          <a:xfrm rot="5400000">
            <a:off x="12005873" y="5975115"/>
            <a:ext cx="389788" cy="389788"/>
          </a:xfrm>
          <a:custGeom>
            <a:avLst/>
            <a:gdLst/>
            <a:ahLst/>
            <a:cxnLst/>
            <a:rect l="l" t="t" r="r" b="b"/>
            <a:pathLst>
              <a:path w="389788" h="389788">
                <a:moveTo>
                  <a:pt x="0" y="0"/>
                </a:moveTo>
                <a:lnTo>
                  <a:pt x="389788" y="0"/>
                </a:lnTo>
                <a:lnTo>
                  <a:pt x="389788" y="389788"/>
                </a:lnTo>
                <a:lnTo>
                  <a:pt x="0" y="3897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9" name="TextBox 49"/>
          <p:cNvSpPr txBox="1"/>
          <p:nvPr/>
        </p:nvSpPr>
        <p:spPr>
          <a:xfrm>
            <a:off x="9420783" y="876300"/>
            <a:ext cx="7838517" cy="944372"/>
          </a:xfrm>
          <a:prstGeom prst="rect">
            <a:avLst/>
          </a:prstGeom>
        </p:spPr>
        <p:txBody>
          <a:bodyPr lIns="0" tIns="0" rIns="0" bIns="0" rtlCol="0" anchor="t">
            <a:spAutoFit/>
          </a:bodyPr>
          <a:lstStyle/>
          <a:p>
            <a:pPr marL="0" lvl="0" indent="0" algn="r">
              <a:lnSpc>
                <a:spcPts val="6603"/>
              </a:lnSpc>
              <a:spcBef>
                <a:spcPct val="0"/>
              </a:spcBef>
            </a:pPr>
            <a:r>
              <a:rPr lang="en-US" sz="5199" b="1">
                <a:solidFill>
                  <a:srgbClr val="0E2F5F"/>
                </a:solidFill>
                <a:latin typeface="Akzidenz-Grotesk Heavy"/>
                <a:ea typeface="Akzidenz-Grotesk Heavy"/>
                <a:cs typeface="Akzidenz-Grotesk Heavy"/>
                <a:sym typeface="Akzidenz-Grotesk Heavy"/>
              </a:rPr>
              <a:t>Key</a:t>
            </a:r>
            <a:r>
              <a:rPr lang="en-US" sz="5199" b="1" u="none" strike="noStrike">
                <a:solidFill>
                  <a:srgbClr val="0E2F5F"/>
                </a:solidFill>
                <a:latin typeface="Akzidenz-Grotesk Heavy"/>
                <a:ea typeface="Akzidenz-Grotesk Heavy"/>
                <a:cs typeface="Akzidenz-Grotesk Heavy"/>
                <a:sym typeface="Akzidenz-Grotesk Heavy"/>
              </a:rPr>
              <a:t> Insights</a:t>
            </a:r>
          </a:p>
        </p:txBody>
      </p:sp>
      <p:sp>
        <p:nvSpPr>
          <p:cNvPr id="50" name="TextBox 50"/>
          <p:cNvSpPr txBox="1"/>
          <p:nvPr/>
        </p:nvSpPr>
        <p:spPr>
          <a:xfrm>
            <a:off x="9039987" y="3451819"/>
            <a:ext cx="3920547" cy="372743"/>
          </a:xfrm>
          <a:prstGeom prst="rect">
            <a:avLst/>
          </a:prstGeom>
        </p:spPr>
        <p:txBody>
          <a:bodyPr lIns="0" tIns="0" rIns="0" bIns="0" rtlCol="0" anchor="t">
            <a:spAutoFit/>
          </a:bodyPr>
          <a:lstStyle/>
          <a:p>
            <a:pPr algn="ctr">
              <a:lnSpc>
                <a:spcPts val="3080"/>
              </a:lnSpc>
            </a:pPr>
            <a:r>
              <a:rPr lang="en-US" sz="2200" b="1" dirty="0">
                <a:solidFill>
                  <a:srgbClr val="FFFFFF"/>
                </a:solidFill>
                <a:latin typeface="Aileron Heavy"/>
                <a:ea typeface="Aileron Heavy"/>
                <a:cs typeface="Aileron Heavy"/>
                <a:sym typeface="Aileron Heavy"/>
              </a:rPr>
              <a:t>Month and year wise Sales</a:t>
            </a:r>
          </a:p>
        </p:txBody>
      </p:sp>
      <p:sp>
        <p:nvSpPr>
          <p:cNvPr id="51" name="TextBox 51"/>
          <p:cNvSpPr txBox="1"/>
          <p:nvPr/>
        </p:nvSpPr>
        <p:spPr>
          <a:xfrm>
            <a:off x="5160321" y="3448294"/>
            <a:ext cx="3191556" cy="372743"/>
          </a:xfrm>
          <a:prstGeom prst="rect">
            <a:avLst/>
          </a:prstGeom>
        </p:spPr>
        <p:txBody>
          <a:bodyPr lIns="0" tIns="0" rIns="0" bIns="0" rtlCol="0" anchor="t">
            <a:spAutoFit/>
          </a:bodyPr>
          <a:lstStyle/>
          <a:p>
            <a:pPr algn="ctr">
              <a:lnSpc>
                <a:spcPts val="3080"/>
              </a:lnSpc>
            </a:pPr>
            <a:r>
              <a:rPr lang="en-US" sz="2200" b="1" dirty="0">
                <a:solidFill>
                  <a:srgbClr val="FFFFFF"/>
                </a:solidFill>
                <a:latin typeface="Aileron Heavy"/>
                <a:ea typeface="Aileron Heavy"/>
                <a:cs typeface="Aileron Heavy"/>
                <a:sym typeface="Aileron Heavy"/>
              </a:rPr>
              <a:t>Total Sales</a:t>
            </a:r>
          </a:p>
        </p:txBody>
      </p:sp>
      <p:sp>
        <p:nvSpPr>
          <p:cNvPr id="52" name="TextBox 52"/>
          <p:cNvSpPr txBox="1"/>
          <p:nvPr/>
        </p:nvSpPr>
        <p:spPr>
          <a:xfrm>
            <a:off x="13630043" y="3425718"/>
            <a:ext cx="3209709" cy="372743"/>
          </a:xfrm>
          <a:prstGeom prst="rect">
            <a:avLst/>
          </a:prstGeom>
        </p:spPr>
        <p:txBody>
          <a:bodyPr lIns="0" tIns="0" rIns="0" bIns="0" rtlCol="0" anchor="t">
            <a:spAutoFit/>
          </a:bodyPr>
          <a:lstStyle/>
          <a:p>
            <a:pPr marL="0" lvl="0" indent="0" algn="ctr">
              <a:lnSpc>
                <a:spcPts val="3080"/>
              </a:lnSpc>
              <a:spcBef>
                <a:spcPct val="0"/>
              </a:spcBef>
            </a:pPr>
            <a:r>
              <a:rPr lang="en-US" sz="2200" b="1" u="none" strike="noStrike" dirty="0">
                <a:solidFill>
                  <a:srgbClr val="FFFFFF"/>
                </a:solidFill>
                <a:latin typeface="Aileron Heavy"/>
                <a:ea typeface="Aileron Heavy"/>
                <a:cs typeface="Aileron Heavy"/>
                <a:sym typeface="Aileron Heavy"/>
              </a:rPr>
              <a:t>Trends Analysis</a:t>
            </a:r>
          </a:p>
        </p:txBody>
      </p:sp>
      <p:sp>
        <p:nvSpPr>
          <p:cNvPr id="53" name="TextBox 53"/>
          <p:cNvSpPr txBox="1"/>
          <p:nvPr/>
        </p:nvSpPr>
        <p:spPr>
          <a:xfrm>
            <a:off x="4595975" y="4165709"/>
            <a:ext cx="4175002" cy="687368"/>
          </a:xfrm>
          <a:prstGeom prst="rect">
            <a:avLst/>
          </a:prstGeom>
        </p:spPr>
        <p:txBody>
          <a:bodyPr lIns="0" tIns="0" rIns="0" bIns="0" rtlCol="0" anchor="t">
            <a:spAutoFit/>
          </a:bodyPr>
          <a:lstStyle/>
          <a:p>
            <a:pPr algn="just">
              <a:lnSpc>
                <a:spcPts val="2800"/>
              </a:lnSpc>
            </a:pPr>
            <a:r>
              <a:rPr lang="en-US" sz="2000" b="1" dirty="0">
                <a:solidFill>
                  <a:srgbClr val="0E2F5F"/>
                </a:solidFill>
                <a:latin typeface="Aileron Bold"/>
                <a:ea typeface="Aileron Bold"/>
                <a:cs typeface="Aileron Bold"/>
                <a:sym typeface="Aileron Bold"/>
              </a:rPr>
              <a:t>Total sales of each year and Total year</a:t>
            </a:r>
          </a:p>
        </p:txBody>
      </p:sp>
      <p:sp>
        <p:nvSpPr>
          <p:cNvPr id="54" name="TextBox 54"/>
          <p:cNvSpPr txBox="1"/>
          <p:nvPr/>
        </p:nvSpPr>
        <p:spPr>
          <a:xfrm>
            <a:off x="9429372" y="4165610"/>
            <a:ext cx="3272282" cy="687368"/>
          </a:xfrm>
          <a:prstGeom prst="rect">
            <a:avLst/>
          </a:prstGeom>
        </p:spPr>
        <p:txBody>
          <a:bodyPr lIns="0" tIns="0" rIns="0" bIns="0" rtlCol="0" anchor="t">
            <a:spAutoFit/>
          </a:bodyPr>
          <a:lstStyle/>
          <a:p>
            <a:pPr algn="just">
              <a:lnSpc>
                <a:spcPts val="2800"/>
              </a:lnSpc>
            </a:pPr>
            <a:r>
              <a:rPr lang="en-US" sz="2000" b="1" dirty="0">
                <a:solidFill>
                  <a:srgbClr val="0E2F5F"/>
                </a:solidFill>
                <a:latin typeface="Aileron Bold"/>
                <a:ea typeface="Aileron Bold"/>
                <a:cs typeface="Aileron Bold"/>
                <a:sym typeface="Aileron Bold"/>
              </a:rPr>
              <a:t>Covers monthly sales with Profit Loss function</a:t>
            </a:r>
          </a:p>
        </p:txBody>
      </p:sp>
      <p:sp>
        <p:nvSpPr>
          <p:cNvPr id="55" name="TextBox 55"/>
          <p:cNvSpPr txBox="1"/>
          <p:nvPr/>
        </p:nvSpPr>
        <p:spPr>
          <a:xfrm>
            <a:off x="13360049" y="4165610"/>
            <a:ext cx="4392156" cy="687368"/>
          </a:xfrm>
          <a:prstGeom prst="rect">
            <a:avLst/>
          </a:prstGeom>
        </p:spPr>
        <p:txBody>
          <a:bodyPr lIns="0" tIns="0" rIns="0" bIns="0" rtlCol="0" anchor="t">
            <a:spAutoFit/>
          </a:bodyPr>
          <a:lstStyle/>
          <a:p>
            <a:pPr algn="just">
              <a:lnSpc>
                <a:spcPts val="2800"/>
              </a:lnSpc>
            </a:pPr>
            <a:r>
              <a:rPr lang="en-US" sz="2000" b="1" dirty="0">
                <a:solidFill>
                  <a:srgbClr val="0E2F5F"/>
                </a:solidFill>
                <a:latin typeface="Aileron Bold"/>
                <a:ea typeface="Aileron Bold"/>
                <a:cs typeface="Aileron Bold"/>
                <a:sym typeface="Aileron Bold"/>
              </a:rPr>
              <a:t>Future trends can be predicted  through previous chats</a:t>
            </a:r>
          </a:p>
        </p:txBody>
      </p:sp>
      <p:sp>
        <p:nvSpPr>
          <p:cNvPr id="56" name="TextBox 56"/>
          <p:cNvSpPr txBox="1"/>
          <p:nvPr/>
        </p:nvSpPr>
        <p:spPr>
          <a:xfrm>
            <a:off x="5224007" y="6995125"/>
            <a:ext cx="3191556" cy="372743"/>
          </a:xfrm>
          <a:prstGeom prst="rect">
            <a:avLst/>
          </a:prstGeom>
        </p:spPr>
        <p:txBody>
          <a:bodyPr lIns="0" tIns="0" rIns="0" bIns="0" rtlCol="0" anchor="t">
            <a:spAutoFit/>
          </a:bodyPr>
          <a:lstStyle/>
          <a:p>
            <a:pPr algn="ctr">
              <a:lnSpc>
                <a:spcPts val="3080"/>
              </a:lnSpc>
            </a:pPr>
            <a:r>
              <a:rPr lang="en-US" sz="2200" b="1" dirty="0">
                <a:solidFill>
                  <a:srgbClr val="FFFFFF"/>
                </a:solidFill>
                <a:latin typeface="Aileron Heavy"/>
                <a:ea typeface="Aileron Heavy"/>
                <a:cs typeface="Aileron Heavy"/>
                <a:sym typeface="Aileron Heavy"/>
              </a:rPr>
              <a:t>Geographic Insights</a:t>
            </a:r>
          </a:p>
        </p:txBody>
      </p:sp>
      <p:sp>
        <p:nvSpPr>
          <p:cNvPr id="57" name="TextBox 57"/>
          <p:cNvSpPr txBox="1"/>
          <p:nvPr/>
        </p:nvSpPr>
        <p:spPr>
          <a:xfrm>
            <a:off x="10545746" y="6958512"/>
            <a:ext cx="3209709" cy="372743"/>
          </a:xfrm>
          <a:prstGeom prst="rect">
            <a:avLst/>
          </a:prstGeom>
        </p:spPr>
        <p:txBody>
          <a:bodyPr lIns="0" tIns="0" rIns="0" bIns="0" rtlCol="0" anchor="t">
            <a:spAutoFit/>
          </a:bodyPr>
          <a:lstStyle/>
          <a:p>
            <a:pPr marL="0" lvl="0" indent="0" algn="ctr">
              <a:lnSpc>
                <a:spcPts val="3080"/>
              </a:lnSpc>
              <a:spcBef>
                <a:spcPct val="0"/>
              </a:spcBef>
            </a:pPr>
            <a:r>
              <a:rPr lang="en-US" sz="2200" b="1" u="none" strike="noStrike" dirty="0">
                <a:solidFill>
                  <a:srgbClr val="FFFFFF"/>
                </a:solidFill>
                <a:latin typeface="Aileron Heavy"/>
                <a:ea typeface="Aileron Heavy"/>
                <a:cs typeface="Aileron Heavy"/>
                <a:sym typeface="Aileron Heavy"/>
              </a:rPr>
              <a:t>Current Inventory</a:t>
            </a:r>
          </a:p>
        </p:txBody>
      </p:sp>
      <p:sp>
        <p:nvSpPr>
          <p:cNvPr id="58" name="TextBox 58"/>
          <p:cNvSpPr txBox="1"/>
          <p:nvPr/>
        </p:nvSpPr>
        <p:spPr>
          <a:xfrm>
            <a:off x="4673238" y="7712541"/>
            <a:ext cx="4293095" cy="1046440"/>
          </a:xfrm>
          <a:prstGeom prst="rect">
            <a:avLst/>
          </a:prstGeom>
        </p:spPr>
        <p:txBody>
          <a:bodyPr lIns="0" tIns="0" rIns="0" bIns="0" rtlCol="0" anchor="t">
            <a:spAutoFit/>
          </a:bodyPr>
          <a:lstStyle/>
          <a:p>
            <a:pPr algn="just">
              <a:lnSpc>
                <a:spcPts val="2800"/>
              </a:lnSpc>
            </a:pPr>
            <a:r>
              <a:rPr lang="en-US" sz="2000" b="1" dirty="0">
                <a:solidFill>
                  <a:srgbClr val="0E2F5F"/>
                </a:solidFill>
                <a:latin typeface="Aileron Bold"/>
                <a:ea typeface="Aileron Bold"/>
                <a:cs typeface="Aileron Bold"/>
                <a:sym typeface="Aileron Bold"/>
              </a:rPr>
              <a:t>Cities like New Delhi, Bengaluru, Mumbai,  Pune,  and Varanasi</a:t>
            </a:r>
          </a:p>
          <a:p>
            <a:pPr algn="just">
              <a:lnSpc>
                <a:spcPts val="2800"/>
              </a:lnSpc>
            </a:pPr>
            <a:r>
              <a:rPr lang="en-US" sz="2000" b="1" dirty="0">
                <a:solidFill>
                  <a:srgbClr val="0E2F5F"/>
                </a:solidFill>
                <a:latin typeface="Aileron Bold"/>
                <a:ea typeface="Aileron Bold"/>
                <a:cs typeface="Aileron Bold"/>
                <a:sym typeface="Aileron Bold"/>
              </a:rPr>
              <a:t>are major hubs for Sales.</a:t>
            </a:r>
          </a:p>
        </p:txBody>
      </p:sp>
      <p:sp>
        <p:nvSpPr>
          <p:cNvPr id="59" name="TextBox 59"/>
          <p:cNvSpPr txBox="1"/>
          <p:nvPr/>
        </p:nvSpPr>
        <p:spPr>
          <a:xfrm>
            <a:off x="10126198" y="7712541"/>
            <a:ext cx="5059140" cy="687368"/>
          </a:xfrm>
          <a:prstGeom prst="rect">
            <a:avLst/>
          </a:prstGeom>
        </p:spPr>
        <p:txBody>
          <a:bodyPr lIns="0" tIns="0" rIns="0" bIns="0" rtlCol="0" anchor="t">
            <a:spAutoFit/>
          </a:bodyPr>
          <a:lstStyle/>
          <a:p>
            <a:pPr algn="just">
              <a:lnSpc>
                <a:spcPts val="2800"/>
              </a:lnSpc>
            </a:pPr>
            <a:r>
              <a:rPr lang="en-US" sz="2000" b="1" dirty="0">
                <a:solidFill>
                  <a:srgbClr val="0E2F5F"/>
                </a:solidFill>
                <a:latin typeface="Aileron Bold"/>
                <a:ea typeface="Aileron Bold"/>
                <a:cs typeface="Aileron Bold"/>
                <a:sym typeface="Aileron Bold"/>
              </a:rPr>
              <a:t>Insights covering the Current inventory Status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FCEAF-C251-ADA6-D60D-3B0E7CDDC0D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A4C47E-5AF4-92D6-0D1A-149C65388B5A}"/>
              </a:ext>
            </a:extLst>
          </p:cNvPr>
          <p:cNvSpPr/>
          <p:nvPr/>
        </p:nvSpPr>
        <p:spPr>
          <a:xfrm>
            <a:off x="9780466" y="1028700"/>
            <a:ext cx="3076459" cy="3076459"/>
          </a:xfrm>
          <a:custGeom>
            <a:avLst/>
            <a:gdLst/>
            <a:ahLst/>
            <a:cxnLst/>
            <a:rect l="l" t="t" r="r" b="b"/>
            <a:pathLst>
              <a:path w="3076459" h="3076459">
                <a:moveTo>
                  <a:pt x="0" y="0"/>
                </a:moveTo>
                <a:lnTo>
                  <a:pt x="3076459" y="0"/>
                </a:lnTo>
                <a:lnTo>
                  <a:pt x="3076459" y="3076459"/>
                </a:lnTo>
                <a:lnTo>
                  <a:pt x="0" y="30764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C884B22E-97D3-56D4-E442-5DB5F4103CD1}"/>
              </a:ext>
            </a:extLst>
          </p:cNvPr>
          <p:cNvSpPr/>
          <p:nvPr/>
        </p:nvSpPr>
        <p:spPr>
          <a:xfrm>
            <a:off x="8155324" y="3099455"/>
            <a:ext cx="1291547" cy="1291547"/>
          </a:xfrm>
          <a:custGeom>
            <a:avLst/>
            <a:gdLst/>
            <a:ahLst/>
            <a:cxnLst/>
            <a:rect l="l" t="t" r="r" b="b"/>
            <a:pathLst>
              <a:path w="1291547" h="1291547">
                <a:moveTo>
                  <a:pt x="0" y="0"/>
                </a:moveTo>
                <a:lnTo>
                  <a:pt x="1291548" y="0"/>
                </a:lnTo>
                <a:lnTo>
                  <a:pt x="1291548" y="1291547"/>
                </a:lnTo>
                <a:lnTo>
                  <a:pt x="0" y="129154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grpSp>
        <p:nvGrpSpPr>
          <p:cNvPr id="4" name="Group 4">
            <a:extLst>
              <a:ext uri="{FF2B5EF4-FFF2-40B4-BE49-F238E27FC236}">
                <a16:creationId xmlns:a16="http://schemas.microsoft.com/office/drawing/2014/main" id="{8D0BD4E1-2E41-A7E6-E749-91F50D2729A1}"/>
              </a:ext>
            </a:extLst>
          </p:cNvPr>
          <p:cNvGrpSpPr/>
          <p:nvPr/>
        </p:nvGrpSpPr>
        <p:grpSpPr>
          <a:xfrm>
            <a:off x="11123130" y="3861098"/>
            <a:ext cx="5650143" cy="6425902"/>
            <a:chOff x="0" y="0"/>
            <a:chExt cx="1488104" cy="1692419"/>
          </a:xfrm>
        </p:grpSpPr>
        <p:sp>
          <p:nvSpPr>
            <p:cNvPr id="5" name="Freeform 5">
              <a:extLst>
                <a:ext uri="{FF2B5EF4-FFF2-40B4-BE49-F238E27FC236}">
                  <a16:creationId xmlns:a16="http://schemas.microsoft.com/office/drawing/2014/main" id="{8C68EA8A-A56E-B94D-BF64-B16B60634A0D}"/>
                </a:ext>
              </a:extLst>
            </p:cNvPr>
            <p:cNvSpPr/>
            <p:nvPr/>
          </p:nvSpPr>
          <p:spPr>
            <a:xfrm>
              <a:off x="0" y="0"/>
              <a:ext cx="1488104" cy="1692419"/>
            </a:xfrm>
            <a:custGeom>
              <a:avLst/>
              <a:gdLst/>
              <a:ahLst/>
              <a:cxnLst/>
              <a:rect l="l" t="t" r="r" b="b"/>
              <a:pathLst>
                <a:path w="1488104" h="1692419">
                  <a:moveTo>
                    <a:pt x="0" y="0"/>
                  </a:moveTo>
                  <a:lnTo>
                    <a:pt x="1488104" y="0"/>
                  </a:lnTo>
                  <a:lnTo>
                    <a:pt x="1488104" y="1692419"/>
                  </a:lnTo>
                  <a:lnTo>
                    <a:pt x="0" y="1692419"/>
                  </a:lnTo>
                  <a:close/>
                </a:path>
              </a:pathLst>
            </a:custGeom>
            <a:solidFill>
              <a:srgbClr val="E1EDFC"/>
            </a:solidFill>
          </p:spPr>
          <p:txBody>
            <a:bodyPr/>
            <a:lstStyle/>
            <a:p>
              <a:endParaRPr lang="en-IN"/>
            </a:p>
          </p:txBody>
        </p:sp>
        <p:sp>
          <p:nvSpPr>
            <p:cNvPr id="6" name="TextBox 6">
              <a:extLst>
                <a:ext uri="{FF2B5EF4-FFF2-40B4-BE49-F238E27FC236}">
                  <a16:creationId xmlns:a16="http://schemas.microsoft.com/office/drawing/2014/main" id="{5A4833E7-4D67-BC8D-B19D-89ADAEC260F1}"/>
                </a:ext>
              </a:extLst>
            </p:cNvPr>
            <p:cNvSpPr txBox="1"/>
            <p:nvPr/>
          </p:nvSpPr>
          <p:spPr>
            <a:xfrm>
              <a:off x="0" y="-47625"/>
              <a:ext cx="1488104" cy="1740044"/>
            </a:xfrm>
            <a:prstGeom prst="rect">
              <a:avLst/>
            </a:prstGeom>
          </p:spPr>
          <p:txBody>
            <a:bodyPr lIns="50800" tIns="50800" rIns="50800" bIns="50800" rtlCol="0" anchor="ctr"/>
            <a:lstStyle/>
            <a:p>
              <a:pPr algn="ctr">
                <a:lnSpc>
                  <a:spcPts val="2800"/>
                </a:lnSpc>
              </a:pPr>
              <a:endParaRPr/>
            </a:p>
          </p:txBody>
        </p:sp>
      </p:grpSp>
      <p:grpSp>
        <p:nvGrpSpPr>
          <p:cNvPr id="7" name="Group 7">
            <a:extLst>
              <a:ext uri="{FF2B5EF4-FFF2-40B4-BE49-F238E27FC236}">
                <a16:creationId xmlns:a16="http://schemas.microsoft.com/office/drawing/2014/main" id="{B4EC68EF-F8CA-675E-AE96-C95D02BFB15E}"/>
              </a:ext>
            </a:extLst>
          </p:cNvPr>
          <p:cNvGrpSpPr/>
          <p:nvPr/>
        </p:nvGrpSpPr>
        <p:grpSpPr>
          <a:xfrm>
            <a:off x="11108476" y="1028700"/>
            <a:ext cx="5664797" cy="5664797"/>
            <a:chOff x="0" y="0"/>
            <a:chExt cx="812800" cy="812800"/>
          </a:xfrm>
        </p:grpSpPr>
        <p:sp>
          <p:nvSpPr>
            <p:cNvPr id="8" name="Freeform 8">
              <a:extLst>
                <a:ext uri="{FF2B5EF4-FFF2-40B4-BE49-F238E27FC236}">
                  <a16:creationId xmlns:a16="http://schemas.microsoft.com/office/drawing/2014/main" id="{1ABEDBE7-9238-BC4E-BB85-4678DFA4E7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4906" r="-24906"/>
              </a:stretch>
            </a:blipFill>
          </p:spPr>
          <p:txBody>
            <a:bodyPr/>
            <a:lstStyle/>
            <a:p>
              <a:endParaRPr lang="en-IN"/>
            </a:p>
          </p:txBody>
        </p:sp>
      </p:grpSp>
      <p:sp>
        <p:nvSpPr>
          <p:cNvPr id="9" name="Freeform 9">
            <a:extLst>
              <a:ext uri="{FF2B5EF4-FFF2-40B4-BE49-F238E27FC236}">
                <a16:creationId xmlns:a16="http://schemas.microsoft.com/office/drawing/2014/main" id="{AEF22C2F-D503-F9E4-A3F8-B96ADC26F085}"/>
              </a:ext>
            </a:extLst>
          </p:cNvPr>
          <p:cNvSpPr/>
          <p:nvPr/>
        </p:nvSpPr>
        <p:spPr>
          <a:xfrm>
            <a:off x="1407370" y="1926156"/>
            <a:ext cx="1519327" cy="469610"/>
          </a:xfrm>
          <a:custGeom>
            <a:avLst/>
            <a:gdLst/>
            <a:ahLst/>
            <a:cxnLst/>
            <a:rect l="l" t="t" r="r" b="b"/>
            <a:pathLst>
              <a:path w="1519327" h="469610">
                <a:moveTo>
                  <a:pt x="0" y="0"/>
                </a:moveTo>
                <a:lnTo>
                  <a:pt x="1519327" y="0"/>
                </a:lnTo>
                <a:lnTo>
                  <a:pt x="1519327" y="469611"/>
                </a:lnTo>
                <a:lnTo>
                  <a:pt x="0" y="4696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1C2CDF13-64CC-9079-9A1C-A6C1A89D1521}"/>
              </a:ext>
            </a:extLst>
          </p:cNvPr>
          <p:cNvSpPr/>
          <p:nvPr/>
        </p:nvSpPr>
        <p:spPr>
          <a:xfrm>
            <a:off x="13181211" y="8788690"/>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1" name="TextBox 11">
            <a:extLst>
              <a:ext uri="{FF2B5EF4-FFF2-40B4-BE49-F238E27FC236}">
                <a16:creationId xmlns:a16="http://schemas.microsoft.com/office/drawing/2014/main" id="{0FFDF57B-76F7-F214-0322-C98343102C7E}"/>
              </a:ext>
            </a:extLst>
          </p:cNvPr>
          <p:cNvSpPr txBox="1"/>
          <p:nvPr/>
        </p:nvSpPr>
        <p:spPr>
          <a:xfrm>
            <a:off x="1407370" y="4500414"/>
            <a:ext cx="9185132" cy="4316438"/>
          </a:xfrm>
          <a:prstGeom prst="rect">
            <a:avLst/>
          </a:prstGeom>
        </p:spPr>
        <p:txBody>
          <a:bodyPr lIns="0" tIns="0" rIns="0" bIns="0" rtlCol="0" anchor="t">
            <a:spAutoFit/>
          </a:bodyPr>
          <a:lstStyle/>
          <a:p>
            <a:r>
              <a:rPr lang="en-US" sz="2800" dirty="0">
                <a:latin typeface="Aileron Bold" panose="020B0604020202020204" charset="0"/>
              </a:rPr>
              <a:t>Machine learning component:</a:t>
            </a:r>
          </a:p>
          <a:p>
            <a:endParaRPr lang="en-US" sz="2800" dirty="0">
              <a:latin typeface="Aileron Bold" panose="020B0604020202020204" charset="0"/>
            </a:endParaRPr>
          </a:p>
          <a:p>
            <a:pPr marL="457200" indent="-457200">
              <a:buFont typeface="Arial" panose="020B0604020202020204" pitchFamily="34" charset="0"/>
              <a:buChar char="•"/>
            </a:pPr>
            <a:r>
              <a:rPr lang="en-US" sz="2800" dirty="0">
                <a:latin typeface="Aileron Bold" panose="020B0604020202020204" charset="0"/>
              </a:rPr>
              <a:t>Supervised regression for monthly sales prediction by city/category using historical sales, discount signals, seasonality (month), and events.</a:t>
            </a:r>
          </a:p>
          <a:p>
            <a:pPr marL="457200" indent="-457200">
              <a:buFont typeface="Arial" panose="020B0604020202020204" pitchFamily="34" charset="0"/>
              <a:buChar char="•"/>
            </a:pPr>
            <a:endParaRPr lang="en-US" sz="2800" dirty="0">
              <a:latin typeface="Aileron Bold" panose="020B0604020202020204" charset="0"/>
            </a:endParaRPr>
          </a:p>
          <a:p>
            <a:pPr marL="457200" indent="-457200">
              <a:buFont typeface="Arial" panose="020B0604020202020204" pitchFamily="34" charset="0"/>
              <a:buChar char="•"/>
            </a:pPr>
            <a:r>
              <a:rPr lang="en-US" sz="2800" dirty="0">
                <a:latin typeface="Aileron Bold" panose="020B0604020202020204" charset="0"/>
              </a:rPr>
              <a:t>Model evaluation with hold‑out/</a:t>
            </a:r>
            <a:r>
              <a:rPr lang="en-US" sz="2800" dirty="0" err="1">
                <a:latin typeface="Aileron Bold" panose="020B0604020202020204" charset="0"/>
              </a:rPr>
              <a:t>TimeSeries</a:t>
            </a:r>
            <a:r>
              <a:rPr lang="en-US" sz="2800" dirty="0">
                <a:latin typeface="Aileron Bold" panose="020B0604020202020204" charset="0"/>
              </a:rPr>
              <a:t> split and error metrics  scenario testing for discount changes.</a:t>
            </a:r>
          </a:p>
          <a:p>
            <a:pPr marL="457200" indent="-457200" algn="just">
              <a:lnSpc>
                <a:spcPts val="3691"/>
              </a:lnSpc>
              <a:buFont typeface="Arial" panose="020B0604020202020204" pitchFamily="34" charset="0"/>
              <a:buChar char="•"/>
            </a:pPr>
            <a:endParaRPr lang="en-US" sz="2800" b="1" dirty="0">
              <a:solidFill>
                <a:srgbClr val="021828"/>
              </a:solidFill>
              <a:latin typeface="Aileron Bold" panose="020B0604020202020204" charset="0"/>
              <a:ea typeface="Aileron Bold"/>
              <a:cs typeface="Aileron Bold"/>
              <a:sym typeface="Aileron Bold"/>
            </a:endParaRPr>
          </a:p>
        </p:txBody>
      </p:sp>
      <p:sp>
        <p:nvSpPr>
          <p:cNvPr id="12" name="TextBox 12">
            <a:extLst>
              <a:ext uri="{FF2B5EF4-FFF2-40B4-BE49-F238E27FC236}">
                <a16:creationId xmlns:a16="http://schemas.microsoft.com/office/drawing/2014/main" id="{F5479D05-141C-FD16-B6F8-CEE78B2B7D57}"/>
              </a:ext>
            </a:extLst>
          </p:cNvPr>
          <p:cNvSpPr txBox="1"/>
          <p:nvPr/>
        </p:nvSpPr>
        <p:spPr>
          <a:xfrm>
            <a:off x="1295400" y="2394441"/>
            <a:ext cx="8727230" cy="2051267"/>
          </a:xfrm>
          <a:prstGeom prst="rect">
            <a:avLst/>
          </a:prstGeom>
        </p:spPr>
        <p:txBody>
          <a:bodyPr wrap="square" lIns="0" tIns="0" rIns="0" bIns="0" rtlCol="0" anchor="t">
            <a:spAutoFit/>
          </a:bodyPr>
          <a:lstStyle/>
          <a:p>
            <a:pPr marL="0" lvl="0" indent="0" algn="l">
              <a:lnSpc>
                <a:spcPts val="8254"/>
              </a:lnSpc>
              <a:spcBef>
                <a:spcPct val="0"/>
              </a:spcBef>
            </a:pPr>
            <a:r>
              <a:rPr lang="en-US" sz="5400" b="1" u="none" strike="noStrike" dirty="0">
                <a:solidFill>
                  <a:srgbClr val="0E2F5F"/>
                </a:solidFill>
                <a:latin typeface="Akzidenz-Grotesk Heavy"/>
                <a:ea typeface="Akzidenz-Grotesk Heavy"/>
                <a:cs typeface="Akzidenz-Grotesk Heavy"/>
                <a:sym typeface="Akzidenz-Grotesk Heavy"/>
              </a:rPr>
              <a:t>Machine Learning component</a:t>
            </a:r>
          </a:p>
        </p:txBody>
      </p:sp>
    </p:spTree>
    <p:extLst>
      <p:ext uri="{BB962C8B-B14F-4D97-AF65-F5344CB8AC3E}">
        <p14:creationId xmlns:p14="http://schemas.microsoft.com/office/powerpoint/2010/main" val="718085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80466" y="1028700"/>
            <a:ext cx="3076459" cy="3076459"/>
          </a:xfrm>
          <a:custGeom>
            <a:avLst/>
            <a:gdLst/>
            <a:ahLst/>
            <a:cxnLst/>
            <a:rect l="l" t="t" r="r" b="b"/>
            <a:pathLst>
              <a:path w="3076459" h="3076459">
                <a:moveTo>
                  <a:pt x="0" y="0"/>
                </a:moveTo>
                <a:lnTo>
                  <a:pt x="3076459" y="0"/>
                </a:lnTo>
                <a:lnTo>
                  <a:pt x="3076459" y="3076459"/>
                </a:lnTo>
                <a:lnTo>
                  <a:pt x="0" y="30764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155324" y="3099455"/>
            <a:ext cx="1291547" cy="1291547"/>
          </a:xfrm>
          <a:custGeom>
            <a:avLst/>
            <a:gdLst/>
            <a:ahLst/>
            <a:cxnLst/>
            <a:rect l="l" t="t" r="r" b="b"/>
            <a:pathLst>
              <a:path w="1291547" h="1291547">
                <a:moveTo>
                  <a:pt x="0" y="0"/>
                </a:moveTo>
                <a:lnTo>
                  <a:pt x="1291548" y="0"/>
                </a:lnTo>
                <a:lnTo>
                  <a:pt x="1291548" y="1291547"/>
                </a:lnTo>
                <a:lnTo>
                  <a:pt x="0" y="129154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grpSp>
        <p:nvGrpSpPr>
          <p:cNvPr id="4" name="Group 4"/>
          <p:cNvGrpSpPr/>
          <p:nvPr/>
        </p:nvGrpSpPr>
        <p:grpSpPr>
          <a:xfrm>
            <a:off x="11123130" y="3861098"/>
            <a:ext cx="5650143" cy="6425902"/>
            <a:chOff x="0" y="0"/>
            <a:chExt cx="1488104" cy="1692419"/>
          </a:xfrm>
        </p:grpSpPr>
        <p:sp>
          <p:nvSpPr>
            <p:cNvPr id="5" name="Freeform 5"/>
            <p:cNvSpPr/>
            <p:nvPr/>
          </p:nvSpPr>
          <p:spPr>
            <a:xfrm>
              <a:off x="0" y="0"/>
              <a:ext cx="1488104" cy="1692419"/>
            </a:xfrm>
            <a:custGeom>
              <a:avLst/>
              <a:gdLst/>
              <a:ahLst/>
              <a:cxnLst/>
              <a:rect l="l" t="t" r="r" b="b"/>
              <a:pathLst>
                <a:path w="1488104" h="1692419">
                  <a:moveTo>
                    <a:pt x="0" y="0"/>
                  </a:moveTo>
                  <a:lnTo>
                    <a:pt x="1488104" y="0"/>
                  </a:lnTo>
                  <a:lnTo>
                    <a:pt x="1488104" y="1692419"/>
                  </a:lnTo>
                  <a:lnTo>
                    <a:pt x="0" y="1692419"/>
                  </a:lnTo>
                  <a:close/>
                </a:path>
              </a:pathLst>
            </a:custGeom>
            <a:solidFill>
              <a:srgbClr val="E1EDFC"/>
            </a:solidFill>
          </p:spPr>
          <p:txBody>
            <a:bodyPr/>
            <a:lstStyle/>
            <a:p>
              <a:endParaRPr lang="en-IN"/>
            </a:p>
          </p:txBody>
        </p:sp>
        <p:sp>
          <p:nvSpPr>
            <p:cNvPr id="6" name="TextBox 6"/>
            <p:cNvSpPr txBox="1"/>
            <p:nvPr/>
          </p:nvSpPr>
          <p:spPr>
            <a:xfrm>
              <a:off x="0" y="-47625"/>
              <a:ext cx="1488104" cy="1740044"/>
            </a:xfrm>
            <a:prstGeom prst="rect">
              <a:avLst/>
            </a:prstGeom>
          </p:spPr>
          <p:txBody>
            <a:bodyPr lIns="50800" tIns="50800" rIns="50800" bIns="50800" rtlCol="0" anchor="ctr"/>
            <a:lstStyle/>
            <a:p>
              <a:pPr algn="ctr">
                <a:lnSpc>
                  <a:spcPts val="2800"/>
                </a:lnSpc>
              </a:pPr>
              <a:endParaRPr/>
            </a:p>
          </p:txBody>
        </p:sp>
      </p:grpSp>
      <p:grpSp>
        <p:nvGrpSpPr>
          <p:cNvPr id="7" name="Group 7"/>
          <p:cNvGrpSpPr/>
          <p:nvPr/>
        </p:nvGrpSpPr>
        <p:grpSpPr>
          <a:xfrm>
            <a:off x="11108476" y="1028700"/>
            <a:ext cx="5664797" cy="566479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4906" r="-24906"/>
              </a:stretch>
            </a:blipFill>
          </p:spPr>
          <p:txBody>
            <a:bodyPr/>
            <a:lstStyle/>
            <a:p>
              <a:endParaRPr lang="en-IN"/>
            </a:p>
          </p:txBody>
        </p:sp>
      </p:grpSp>
      <p:sp>
        <p:nvSpPr>
          <p:cNvPr id="9" name="Freeform 9"/>
          <p:cNvSpPr/>
          <p:nvPr/>
        </p:nvSpPr>
        <p:spPr>
          <a:xfrm>
            <a:off x="1407370" y="1257300"/>
            <a:ext cx="1519327" cy="469610"/>
          </a:xfrm>
          <a:custGeom>
            <a:avLst/>
            <a:gdLst/>
            <a:ahLst/>
            <a:cxnLst/>
            <a:rect l="l" t="t" r="r" b="b"/>
            <a:pathLst>
              <a:path w="1519327" h="469610">
                <a:moveTo>
                  <a:pt x="0" y="0"/>
                </a:moveTo>
                <a:lnTo>
                  <a:pt x="1519327" y="0"/>
                </a:lnTo>
                <a:lnTo>
                  <a:pt x="1519327" y="469611"/>
                </a:lnTo>
                <a:lnTo>
                  <a:pt x="0" y="4696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0" name="Freeform 10"/>
          <p:cNvSpPr/>
          <p:nvPr/>
        </p:nvSpPr>
        <p:spPr>
          <a:xfrm>
            <a:off x="13181211" y="8788690"/>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1" name="TextBox 11"/>
          <p:cNvSpPr txBox="1"/>
          <p:nvPr/>
        </p:nvSpPr>
        <p:spPr>
          <a:xfrm>
            <a:off x="1219200" y="4105159"/>
            <a:ext cx="9185132" cy="5398914"/>
          </a:xfrm>
          <a:prstGeom prst="rect">
            <a:avLst/>
          </a:prstGeom>
        </p:spPr>
        <p:txBody>
          <a:bodyPr lIns="0" tIns="0" rIns="0" bIns="0" rtlCol="0" anchor="t">
            <a:spAutoFit/>
          </a:bodyPr>
          <a:lstStyle/>
          <a:p>
            <a:pPr marL="457200" indent="-457200">
              <a:buFont typeface="Arial" panose="020B0604020202020204" pitchFamily="34" charset="0"/>
              <a:buChar char="•"/>
            </a:pPr>
            <a:r>
              <a:rPr lang="en-US" sz="3200" dirty="0">
                <a:solidFill>
                  <a:schemeClr val="tx2">
                    <a:lumMod val="75000"/>
                  </a:schemeClr>
                </a:solidFill>
              </a:rPr>
              <a:t>Centralized visibility of KPIs across cities and categories; faster decisions on pricing, inventory, and marketing.</a:t>
            </a:r>
          </a:p>
          <a:p>
            <a:pPr marL="457200" indent="-457200">
              <a:buFont typeface="Arial" panose="020B0604020202020204" pitchFamily="34" charset="0"/>
              <a:buChar char="•"/>
            </a:pPr>
            <a:endParaRPr lang="en-US" sz="3200" dirty="0">
              <a:solidFill>
                <a:schemeClr val="tx2">
                  <a:lumMod val="75000"/>
                </a:schemeClr>
              </a:solidFill>
            </a:endParaRPr>
          </a:p>
          <a:p>
            <a:pPr marL="457200" indent="-457200">
              <a:buFont typeface="Arial" panose="020B0604020202020204" pitchFamily="34" charset="0"/>
              <a:buChar char="•"/>
            </a:pPr>
            <a:r>
              <a:rPr lang="en-US" sz="3200" dirty="0">
                <a:solidFill>
                  <a:schemeClr val="tx2">
                    <a:lumMod val="75000"/>
                  </a:schemeClr>
                </a:solidFill>
              </a:rPr>
              <a:t>Standardized metrics and automated refresh reduce manual consolidation and errors.</a:t>
            </a:r>
          </a:p>
          <a:p>
            <a:pPr marL="457200" indent="-457200">
              <a:buFont typeface="Arial" panose="020B0604020202020204" pitchFamily="34" charset="0"/>
              <a:buChar char="•"/>
            </a:pPr>
            <a:endParaRPr lang="en-US" sz="3200" dirty="0">
              <a:solidFill>
                <a:schemeClr val="tx2">
                  <a:lumMod val="75000"/>
                </a:schemeClr>
              </a:solidFill>
            </a:endParaRPr>
          </a:p>
          <a:p>
            <a:pPr marL="457200" indent="-457200">
              <a:buFont typeface="Arial" panose="020B0604020202020204" pitchFamily="34" charset="0"/>
              <a:buChar char="•"/>
            </a:pPr>
            <a:r>
              <a:rPr lang="en-US" sz="3200" dirty="0">
                <a:solidFill>
                  <a:schemeClr val="tx2">
                    <a:lumMod val="75000"/>
                  </a:schemeClr>
                </a:solidFill>
              </a:rPr>
              <a:t>Predictive insights improve demand planning and campaign timing, potentially reducing stockouts/overstock.</a:t>
            </a:r>
          </a:p>
          <a:p>
            <a:pPr marL="457200" indent="-457200" algn="just">
              <a:lnSpc>
                <a:spcPts val="3691"/>
              </a:lnSpc>
              <a:buFont typeface="Arial" panose="020B0604020202020204" pitchFamily="34" charset="0"/>
              <a:buChar char="•"/>
            </a:pPr>
            <a:endParaRPr lang="en-US" sz="3200" b="1" dirty="0">
              <a:solidFill>
                <a:schemeClr val="tx2">
                  <a:lumMod val="75000"/>
                </a:schemeClr>
              </a:solidFill>
              <a:latin typeface="Aileron Bold"/>
              <a:ea typeface="Aileron Bold"/>
              <a:cs typeface="Aileron Bold"/>
              <a:sym typeface="Aileron Bold"/>
            </a:endParaRPr>
          </a:p>
        </p:txBody>
      </p:sp>
      <p:sp>
        <p:nvSpPr>
          <p:cNvPr id="12" name="TextBox 12"/>
          <p:cNvSpPr txBox="1"/>
          <p:nvPr/>
        </p:nvSpPr>
        <p:spPr>
          <a:xfrm>
            <a:off x="1219200" y="2122165"/>
            <a:ext cx="5430398" cy="1027204"/>
          </a:xfrm>
          <a:prstGeom prst="rect">
            <a:avLst/>
          </a:prstGeom>
        </p:spPr>
        <p:txBody>
          <a:bodyPr lIns="0" tIns="0" rIns="0" bIns="0" rtlCol="0" anchor="t">
            <a:spAutoFit/>
          </a:bodyPr>
          <a:lstStyle/>
          <a:p>
            <a:pPr lvl="0">
              <a:lnSpc>
                <a:spcPts val="8254"/>
              </a:lnSpc>
              <a:spcBef>
                <a:spcPct val="0"/>
              </a:spcBef>
            </a:pPr>
            <a:r>
              <a:rPr lang="en-US" sz="6600" dirty="0">
                <a:solidFill>
                  <a:schemeClr val="tx2">
                    <a:lumMod val="75000"/>
                  </a:schemeClr>
                </a:solidFill>
                <a:latin typeface="Aileron Bold" panose="020B0604020202020204" charset="0"/>
              </a:rPr>
              <a:t>Advantages</a:t>
            </a:r>
            <a:endParaRPr lang="en-US" sz="6600" b="1" u="none" strike="noStrike" dirty="0">
              <a:solidFill>
                <a:schemeClr val="tx2">
                  <a:lumMod val="75000"/>
                </a:schemeClr>
              </a:solidFill>
              <a:latin typeface="Aileron Bold" panose="020B0604020202020204" charset="0"/>
              <a:ea typeface="Akzidenz-Grotesk Heavy"/>
              <a:cs typeface="Akzidenz-Grotesk Heavy"/>
              <a:sym typeface="Akzidenz-Grotesk Heav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13E19-AC71-AE37-3FBC-9D7FD24F05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620BC0-85B0-67DF-8A1D-05F422C5BEAE}"/>
              </a:ext>
            </a:extLst>
          </p:cNvPr>
          <p:cNvSpPr/>
          <p:nvPr/>
        </p:nvSpPr>
        <p:spPr>
          <a:xfrm>
            <a:off x="9780466" y="1028700"/>
            <a:ext cx="3076459" cy="3076459"/>
          </a:xfrm>
          <a:custGeom>
            <a:avLst/>
            <a:gdLst/>
            <a:ahLst/>
            <a:cxnLst/>
            <a:rect l="l" t="t" r="r" b="b"/>
            <a:pathLst>
              <a:path w="3076459" h="3076459">
                <a:moveTo>
                  <a:pt x="0" y="0"/>
                </a:moveTo>
                <a:lnTo>
                  <a:pt x="3076459" y="0"/>
                </a:lnTo>
                <a:lnTo>
                  <a:pt x="3076459" y="3076459"/>
                </a:lnTo>
                <a:lnTo>
                  <a:pt x="0" y="30764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FDA7EAE6-9A19-6E01-B2FE-5FB44CDEAD37}"/>
              </a:ext>
            </a:extLst>
          </p:cNvPr>
          <p:cNvSpPr/>
          <p:nvPr/>
        </p:nvSpPr>
        <p:spPr>
          <a:xfrm>
            <a:off x="8155324" y="3099455"/>
            <a:ext cx="1291547" cy="1291547"/>
          </a:xfrm>
          <a:custGeom>
            <a:avLst/>
            <a:gdLst/>
            <a:ahLst/>
            <a:cxnLst/>
            <a:rect l="l" t="t" r="r" b="b"/>
            <a:pathLst>
              <a:path w="1291547" h="1291547">
                <a:moveTo>
                  <a:pt x="0" y="0"/>
                </a:moveTo>
                <a:lnTo>
                  <a:pt x="1291548" y="0"/>
                </a:lnTo>
                <a:lnTo>
                  <a:pt x="1291548" y="1291547"/>
                </a:lnTo>
                <a:lnTo>
                  <a:pt x="0" y="129154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grpSp>
        <p:nvGrpSpPr>
          <p:cNvPr id="4" name="Group 4">
            <a:extLst>
              <a:ext uri="{FF2B5EF4-FFF2-40B4-BE49-F238E27FC236}">
                <a16:creationId xmlns:a16="http://schemas.microsoft.com/office/drawing/2014/main" id="{7D5D81C2-CF85-0645-33F7-3A92729EE555}"/>
              </a:ext>
            </a:extLst>
          </p:cNvPr>
          <p:cNvGrpSpPr/>
          <p:nvPr/>
        </p:nvGrpSpPr>
        <p:grpSpPr>
          <a:xfrm>
            <a:off x="11123130" y="3861098"/>
            <a:ext cx="5650143" cy="6425902"/>
            <a:chOff x="0" y="0"/>
            <a:chExt cx="1488104" cy="1692419"/>
          </a:xfrm>
        </p:grpSpPr>
        <p:sp>
          <p:nvSpPr>
            <p:cNvPr id="5" name="Freeform 5">
              <a:extLst>
                <a:ext uri="{FF2B5EF4-FFF2-40B4-BE49-F238E27FC236}">
                  <a16:creationId xmlns:a16="http://schemas.microsoft.com/office/drawing/2014/main" id="{508276A6-0B97-050C-A988-F3F2BC72DAD2}"/>
                </a:ext>
              </a:extLst>
            </p:cNvPr>
            <p:cNvSpPr/>
            <p:nvPr/>
          </p:nvSpPr>
          <p:spPr>
            <a:xfrm>
              <a:off x="0" y="0"/>
              <a:ext cx="1488104" cy="1692419"/>
            </a:xfrm>
            <a:custGeom>
              <a:avLst/>
              <a:gdLst/>
              <a:ahLst/>
              <a:cxnLst/>
              <a:rect l="l" t="t" r="r" b="b"/>
              <a:pathLst>
                <a:path w="1488104" h="1692419">
                  <a:moveTo>
                    <a:pt x="0" y="0"/>
                  </a:moveTo>
                  <a:lnTo>
                    <a:pt x="1488104" y="0"/>
                  </a:lnTo>
                  <a:lnTo>
                    <a:pt x="1488104" y="1692419"/>
                  </a:lnTo>
                  <a:lnTo>
                    <a:pt x="0" y="1692419"/>
                  </a:lnTo>
                  <a:close/>
                </a:path>
              </a:pathLst>
            </a:custGeom>
            <a:solidFill>
              <a:srgbClr val="E1EDFC"/>
            </a:solidFill>
          </p:spPr>
          <p:txBody>
            <a:bodyPr/>
            <a:lstStyle/>
            <a:p>
              <a:endParaRPr lang="en-IN"/>
            </a:p>
          </p:txBody>
        </p:sp>
        <p:sp>
          <p:nvSpPr>
            <p:cNvPr id="6" name="TextBox 6">
              <a:extLst>
                <a:ext uri="{FF2B5EF4-FFF2-40B4-BE49-F238E27FC236}">
                  <a16:creationId xmlns:a16="http://schemas.microsoft.com/office/drawing/2014/main" id="{E19D305F-9492-9A48-A931-73C826F6BA82}"/>
                </a:ext>
              </a:extLst>
            </p:cNvPr>
            <p:cNvSpPr txBox="1"/>
            <p:nvPr/>
          </p:nvSpPr>
          <p:spPr>
            <a:xfrm>
              <a:off x="0" y="-47625"/>
              <a:ext cx="1488104" cy="1740044"/>
            </a:xfrm>
            <a:prstGeom prst="rect">
              <a:avLst/>
            </a:prstGeom>
          </p:spPr>
          <p:txBody>
            <a:bodyPr lIns="50800" tIns="50800" rIns="50800" bIns="50800" rtlCol="0" anchor="ctr"/>
            <a:lstStyle/>
            <a:p>
              <a:pPr algn="ctr">
                <a:lnSpc>
                  <a:spcPts val="2800"/>
                </a:lnSpc>
              </a:pPr>
              <a:endParaRPr/>
            </a:p>
          </p:txBody>
        </p:sp>
      </p:grpSp>
      <p:grpSp>
        <p:nvGrpSpPr>
          <p:cNvPr id="7" name="Group 7">
            <a:extLst>
              <a:ext uri="{FF2B5EF4-FFF2-40B4-BE49-F238E27FC236}">
                <a16:creationId xmlns:a16="http://schemas.microsoft.com/office/drawing/2014/main" id="{656434B2-A9CC-11D6-0679-4CB1E7E8B3DB}"/>
              </a:ext>
            </a:extLst>
          </p:cNvPr>
          <p:cNvGrpSpPr/>
          <p:nvPr/>
        </p:nvGrpSpPr>
        <p:grpSpPr>
          <a:xfrm>
            <a:off x="11108476" y="1028700"/>
            <a:ext cx="5664797" cy="5664797"/>
            <a:chOff x="0" y="0"/>
            <a:chExt cx="812800" cy="812800"/>
          </a:xfrm>
        </p:grpSpPr>
        <p:sp>
          <p:nvSpPr>
            <p:cNvPr id="8" name="Freeform 8">
              <a:extLst>
                <a:ext uri="{FF2B5EF4-FFF2-40B4-BE49-F238E27FC236}">
                  <a16:creationId xmlns:a16="http://schemas.microsoft.com/office/drawing/2014/main" id="{934CA021-1899-248C-E791-CB5741FB2B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4906" r="-24906"/>
              </a:stretch>
            </a:blipFill>
          </p:spPr>
          <p:txBody>
            <a:bodyPr/>
            <a:lstStyle/>
            <a:p>
              <a:endParaRPr lang="en-IN"/>
            </a:p>
          </p:txBody>
        </p:sp>
      </p:grpSp>
      <p:sp>
        <p:nvSpPr>
          <p:cNvPr id="9" name="Freeform 9">
            <a:extLst>
              <a:ext uri="{FF2B5EF4-FFF2-40B4-BE49-F238E27FC236}">
                <a16:creationId xmlns:a16="http://schemas.microsoft.com/office/drawing/2014/main" id="{530736A0-9AEB-EC2D-02D6-0A0F9538C9BC}"/>
              </a:ext>
            </a:extLst>
          </p:cNvPr>
          <p:cNvSpPr/>
          <p:nvPr/>
        </p:nvSpPr>
        <p:spPr>
          <a:xfrm>
            <a:off x="1407370" y="1257300"/>
            <a:ext cx="1519327" cy="469610"/>
          </a:xfrm>
          <a:custGeom>
            <a:avLst/>
            <a:gdLst/>
            <a:ahLst/>
            <a:cxnLst/>
            <a:rect l="l" t="t" r="r" b="b"/>
            <a:pathLst>
              <a:path w="1519327" h="469610">
                <a:moveTo>
                  <a:pt x="0" y="0"/>
                </a:moveTo>
                <a:lnTo>
                  <a:pt x="1519327" y="0"/>
                </a:lnTo>
                <a:lnTo>
                  <a:pt x="1519327" y="469611"/>
                </a:lnTo>
                <a:lnTo>
                  <a:pt x="0" y="4696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C678507D-F9C8-1797-427C-1BA02201E0C5}"/>
              </a:ext>
            </a:extLst>
          </p:cNvPr>
          <p:cNvSpPr/>
          <p:nvPr/>
        </p:nvSpPr>
        <p:spPr>
          <a:xfrm>
            <a:off x="13181211" y="8788690"/>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1" name="TextBox 11">
            <a:extLst>
              <a:ext uri="{FF2B5EF4-FFF2-40B4-BE49-F238E27FC236}">
                <a16:creationId xmlns:a16="http://schemas.microsoft.com/office/drawing/2014/main" id="{B4160CBC-2278-EBE6-8494-B9A2D65EF6D4}"/>
              </a:ext>
            </a:extLst>
          </p:cNvPr>
          <p:cNvSpPr txBox="1"/>
          <p:nvPr/>
        </p:nvSpPr>
        <p:spPr>
          <a:xfrm>
            <a:off x="1092542" y="3366944"/>
            <a:ext cx="9185132" cy="6039987"/>
          </a:xfrm>
          <a:prstGeom prst="rect">
            <a:avLst/>
          </a:prstGeom>
        </p:spPr>
        <p:txBody>
          <a:bodyPr lIns="0" tIns="0" rIns="0" bIns="0" rtlCol="0" anchor="t">
            <a:spAutoFit/>
          </a:bodyPr>
          <a:lstStyle/>
          <a:p>
            <a:pPr marL="457200" indent="-457200">
              <a:buFont typeface="Arial" panose="020B0604020202020204" pitchFamily="34" charset="0"/>
              <a:buChar char="•"/>
            </a:pPr>
            <a:r>
              <a:rPr lang="en-US" sz="2800" dirty="0">
                <a:solidFill>
                  <a:schemeClr val="tx2">
                    <a:lumMod val="75000"/>
                  </a:schemeClr>
                </a:solidFill>
              </a:rPr>
              <a:t>Maintaining dashboards in three tools increases governance, version control, and training overhead.</a:t>
            </a:r>
          </a:p>
          <a:p>
            <a:pPr marL="457200" indent="-457200">
              <a:buFont typeface="Arial" panose="020B0604020202020204" pitchFamily="34" charset="0"/>
              <a:buChar char="•"/>
            </a:pPr>
            <a:endParaRPr lang="en-US" sz="2800" dirty="0">
              <a:solidFill>
                <a:schemeClr val="tx2">
                  <a:lumMod val="75000"/>
                </a:schemeClr>
              </a:solidFill>
            </a:endParaRPr>
          </a:p>
          <a:p>
            <a:pPr marL="457200" indent="-457200">
              <a:buFont typeface="Arial" panose="020B0604020202020204" pitchFamily="34" charset="0"/>
              <a:buChar char="•"/>
            </a:pPr>
            <a:r>
              <a:rPr lang="en-US" sz="2800" dirty="0">
                <a:solidFill>
                  <a:schemeClr val="tx2">
                    <a:lumMod val="75000"/>
                  </a:schemeClr>
                </a:solidFill>
              </a:rPr>
              <a:t>Data quality issues (missing values, inconsistent categories) can degrade both dashboards and predictions.</a:t>
            </a:r>
          </a:p>
          <a:p>
            <a:pPr marL="457200" indent="-457200">
              <a:buFont typeface="Arial" panose="020B0604020202020204" pitchFamily="34" charset="0"/>
              <a:buChar char="•"/>
            </a:pPr>
            <a:endParaRPr lang="en-US" sz="2800" dirty="0">
              <a:solidFill>
                <a:schemeClr val="tx2">
                  <a:lumMod val="75000"/>
                </a:schemeClr>
              </a:solidFill>
            </a:endParaRPr>
          </a:p>
          <a:p>
            <a:pPr marL="457200" indent="-457200">
              <a:buFont typeface="Arial" panose="020B0604020202020204" pitchFamily="34" charset="0"/>
              <a:buChar char="•"/>
            </a:pPr>
            <a:r>
              <a:rPr lang="en-US" sz="2800" dirty="0">
                <a:solidFill>
                  <a:schemeClr val="tx2">
                    <a:lumMod val="75000"/>
                  </a:schemeClr>
                </a:solidFill>
              </a:rPr>
              <a:t>ML risks: overfitting, data leakage, and concept drift; requires careful validation, monitoring, and periodic retraining.</a:t>
            </a:r>
          </a:p>
          <a:p>
            <a:pPr marL="457200" indent="-457200">
              <a:buFont typeface="Arial" panose="020B0604020202020204" pitchFamily="34" charset="0"/>
              <a:buChar char="•"/>
            </a:pPr>
            <a:endParaRPr lang="en-US" sz="2800" dirty="0">
              <a:solidFill>
                <a:schemeClr val="tx2">
                  <a:lumMod val="75000"/>
                </a:schemeClr>
              </a:solidFill>
            </a:endParaRPr>
          </a:p>
          <a:p>
            <a:pPr marL="457200" indent="-457200">
              <a:buFont typeface="Arial" panose="020B0604020202020204" pitchFamily="34" charset="0"/>
              <a:buChar char="•"/>
            </a:pPr>
            <a:r>
              <a:rPr lang="en-US" sz="2800" dirty="0">
                <a:solidFill>
                  <a:schemeClr val="tx2">
                    <a:lumMod val="75000"/>
                  </a:schemeClr>
                </a:solidFill>
              </a:rPr>
              <a:t>Excel performance can degrade with very large datasets; may need Power Query, data model optimization, or external storage.</a:t>
            </a:r>
          </a:p>
          <a:p>
            <a:pPr marL="457200" indent="-457200" algn="just">
              <a:lnSpc>
                <a:spcPts val="3691"/>
              </a:lnSpc>
              <a:buFont typeface="Arial" panose="020B0604020202020204" pitchFamily="34" charset="0"/>
              <a:buChar char="•"/>
            </a:pPr>
            <a:endParaRPr lang="en-US" sz="2800" b="1" dirty="0">
              <a:solidFill>
                <a:schemeClr val="tx2">
                  <a:lumMod val="75000"/>
                </a:schemeClr>
              </a:solidFill>
              <a:latin typeface="Aileron Bold"/>
              <a:ea typeface="Aileron Bold"/>
              <a:cs typeface="Aileron Bold"/>
              <a:sym typeface="Aileron Bold"/>
            </a:endParaRPr>
          </a:p>
        </p:txBody>
      </p:sp>
      <p:sp>
        <p:nvSpPr>
          <p:cNvPr id="12" name="TextBox 12">
            <a:extLst>
              <a:ext uri="{FF2B5EF4-FFF2-40B4-BE49-F238E27FC236}">
                <a16:creationId xmlns:a16="http://schemas.microsoft.com/office/drawing/2014/main" id="{D4836055-0323-A52B-0CAC-315758912713}"/>
              </a:ext>
            </a:extLst>
          </p:cNvPr>
          <p:cNvSpPr txBox="1"/>
          <p:nvPr/>
        </p:nvSpPr>
        <p:spPr>
          <a:xfrm>
            <a:off x="1219199" y="2122165"/>
            <a:ext cx="5978663" cy="992964"/>
          </a:xfrm>
          <a:prstGeom prst="rect">
            <a:avLst/>
          </a:prstGeom>
        </p:spPr>
        <p:txBody>
          <a:bodyPr wrap="square" lIns="0" tIns="0" rIns="0" bIns="0" rtlCol="0" anchor="t">
            <a:spAutoFit/>
          </a:bodyPr>
          <a:lstStyle/>
          <a:p>
            <a:pPr lvl="0">
              <a:lnSpc>
                <a:spcPts val="8254"/>
              </a:lnSpc>
              <a:spcBef>
                <a:spcPct val="0"/>
              </a:spcBef>
            </a:pPr>
            <a:r>
              <a:rPr lang="en-US" sz="6600" dirty="0" err="1">
                <a:solidFill>
                  <a:schemeClr val="tx2">
                    <a:lumMod val="75000"/>
                  </a:schemeClr>
                </a:solidFill>
                <a:latin typeface="Aileron Bold" panose="020B0604020202020204" charset="0"/>
              </a:rPr>
              <a:t>Disdvantages</a:t>
            </a:r>
            <a:endParaRPr lang="en-US" sz="6600" b="1" u="none" strike="noStrike" dirty="0">
              <a:solidFill>
                <a:schemeClr val="tx2">
                  <a:lumMod val="75000"/>
                </a:schemeClr>
              </a:solidFill>
              <a:latin typeface="Aileron Bold" panose="020B0604020202020204" charset="0"/>
              <a:ea typeface="Akzidenz-Grotesk Heavy"/>
              <a:cs typeface="Akzidenz-Grotesk Heavy"/>
              <a:sym typeface="Akzidenz-Grotesk Heavy"/>
            </a:endParaRPr>
          </a:p>
        </p:txBody>
      </p:sp>
    </p:spTree>
    <p:extLst>
      <p:ext uri="{BB962C8B-B14F-4D97-AF65-F5344CB8AC3E}">
        <p14:creationId xmlns:p14="http://schemas.microsoft.com/office/powerpoint/2010/main" val="386828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03896-3A45-049F-F093-D765BA5ADD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5A15E71-36E8-8755-B286-968777CE9A19}"/>
              </a:ext>
            </a:extLst>
          </p:cNvPr>
          <p:cNvSpPr/>
          <p:nvPr/>
        </p:nvSpPr>
        <p:spPr>
          <a:xfrm>
            <a:off x="9780466" y="1028700"/>
            <a:ext cx="3076459" cy="3076459"/>
          </a:xfrm>
          <a:custGeom>
            <a:avLst/>
            <a:gdLst/>
            <a:ahLst/>
            <a:cxnLst/>
            <a:rect l="l" t="t" r="r" b="b"/>
            <a:pathLst>
              <a:path w="3076459" h="3076459">
                <a:moveTo>
                  <a:pt x="0" y="0"/>
                </a:moveTo>
                <a:lnTo>
                  <a:pt x="3076459" y="0"/>
                </a:lnTo>
                <a:lnTo>
                  <a:pt x="3076459" y="3076459"/>
                </a:lnTo>
                <a:lnTo>
                  <a:pt x="0" y="30764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BDB7F3CC-3914-EF41-E544-31C3340799FF}"/>
              </a:ext>
            </a:extLst>
          </p:cNvPr>
          <p:cNvSpPr/>
          <p:nvPr/>
        </p:nvSpPr>
        <p:spPr>
          <a:xfrm>
            <a:off x="8155324" y="3099455"/>
            <a:ext cx="1291547" cy="1291547"/>
          </a:xfrm>
          <a:custGeom>
            <a:avLst/>
            <a:gdLst/>
            <a:ahLst/>
            <a:cxnLst/>
            <a:rect l="l" t="t" r="r" b="b"/>
            <a:pathLst>
              <a:path w="1291547" h="1291547">
                <a:moveTo>
                  <a:pt x="0" y="0"/>
                </a:moveTo>
                <a:lnTo>
                  <a:pt x="1291548" y="0"/>
                </a:lnTo>
                <a:lnTo>
                  <a:pt x="1291548" y="1291547"/>
                </a:lnTo>
                <a:lnTo>
                  <a:pt x="0" y="129154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grpSp>
        <p:nvGrpSpPr>
          <p:cNvPr id="4" name="Group 4">
            <a:extLst>
              <a:ext uri="{FF2B5EF4-FFF2-40B4-BE49-F238E27FC236}">
                <a16:creationId xmlns:a16="http://schemas.microsoft.com/office/drawing/2014/main" id="{C4FB335E-C068-6932-C797-D3D10C2D785B}"/>
              </a:ext>
            </a:extLst>
          </p:cNvPr>
          <p:cNvGrpSpPr/>
          <p:nvPr/>
        </p:nvGrpSpPr>
        <p:grpSpPr>
          <a:xfrm>
            <a:off x="11123130" y="3861098"/>
            <a:ext cx="5650143" cy="6425902"/>
            <a:chOff x="0" y="0"/>
            <a:chExt cx="1488104" cy="1692419"/>
          </a:xfrm>
        </p:grpSpPr>
        <p:sp>
          <p:nvSpPr>
            <p:cNvPr id="5" name="Freeform 5">
              <a:extLst>
                <a:ext uri="{FF2B5EF4-FFF2-40B4-BE49-F238E27FC236}">
                  <a16:creationId xmlns:a16="http://schemas.microsoft.com/office/drawing/2014/main" id="{A731E293-11F1-A2B2-44F4-7DC0AD388C56}"/>
                </a:ext>
              </a:extLst>
            </p:cNvPr>
            <p:cNvSpPr/>
            <p:nvPr/>
          </p:nvSpPr>
          <p:spPr>
            <a:xfrm>
              <a:off x="0" y="0"/>
              <a:ext cx="1488104" cy="1692419"/>
            </a:xfrm>
            <a:custGeom>
              <a:avLst/>
              <a:gdLst/>
              <a:ahLst/>
              <a:cxnLst/>
              <a:rect l="l" t="t" r="r" b="b"/>
              <a:pathLst>
                <a:path w="1488104" h="1692419">
                  <a:moveTo>
                    <a:pt x="0" y="0"/>
                  </a:moveTo>
                  <a:lnTo>
                    <a:pt x="1488104" y="0"/>
                  </a:lnTo>
                  <a:lnTo>
                    <a:pt x="1488104" y="1692419"/>
                  </a:lnTo>
                  <a:lnTo>
                    <a:pt x="0" y="1692419"/>
                  </a:lnTo>
                  <a:close/>
                </a:path>
              </a:pathLst>
            </a:custGeom>
            <a:solidFill>
              <a:srgbClr val="E1EDFC"/>
            </a:solidFill>
          </p:spPr>
          <p:txBody>
            <a:bodyPr/>
            <a:lstStyle/>
            <a:p>
              <a:endParaRPr lang="en-IN"/>
            </a:p>
          </p:txBody>
        </p:sp>
        <p:sp>
          <p:nvSpPr>
            <p:cNvPr id="6" name="TextBox 6">
              <a:extLst>
                <a:ext uri="{FF2B5EF4-FFF2-40B4-BE49-F238E27FC236}">
                  <a16:creationId xmlns:a16="http://schemas.microsoft.com/office/drawing/2014/main" id="{853A3288-6FD4-E22F-DC28-38E572A242F8}"/>
                </a:ext>
              </a:extLst>
            </p:cNvPr>
            <p:cNvSpPr txBox="1"/>
            <p:nvPr/>
          </p:nvSpPr>
          <p:spPr>
            <a:xfrm>
              <a:off x="0" y="-47625"/>
              <a:ext cx="1488104" cy="1740044"/>
            </a:xfrm>
            <a:prstGeom prst="rect">
              <a:avLst/>
            </a:prstGeom>
          </p:spPr>
          <p:txBody>
            <a:bodyPr lIns="50800" tIns="50800" rIns="50800" bIns="50800" rtlCol="0" anchor="ctr"/>
            <a:lstStyle/>
            <a:p>
              <a:pPr algn="ctr">
                <a:lnSpc>
                  <a:spcPts val="2800"/>
                </a:lnSpc>
              </a:pPr>
              <a:endParaRPr/>
            </a:p>
          </p:txBody>
        </p:sp>
      </p:grpSp>
      <p:grpSp>
        <p:nvGrpSpPr>
          <p:cNvPr id="7" name="Group 7">
            <a:extLst>
              <a:ext uri="{FF2B5EF4-FFF2-40B4-BE49-F238E27FC236}">
                <a16:creationId xmlns:a16="http://schemas.microsoft.com/office/drawing/2014/main" id="{09312FF4-5B7F-00E7-84F7-99D7C0B714F5}"/>
              </a:ext>
            </a:extLst>
          </p:cNvPr>
          <p:cNvGrpSpPr/>
          <p:nvPr/>
        </p:nvGrpSpPr>
        <p:grpSpPr>
          <a:xfrm>
            <a:off x="11108476" y="1028700"/>
            <a:ext cx="5664797" cy="5664797"/>
            <a:chOff x="0" y="0"/>
            <a:chExt cx="812800" cy="812800"/>
          </a:xfrm>
        </p:grpSpPr>
        <p:sp>
          <p:nvSpPr>
            <p:cNvPr id="8" name="Freeform 8">
              <a:extLst>
                <a:ext uri="{FF2B5EF4-FFF2-40B4-BE49-F238E27FC236}">
                  <a16:creationId xmlns:a16="http://schemas.microsoft.com/office/drawing/2014/main" id="{188F0207-B05B-5BAA-50F4-6546C28116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4906" r="-24906"/>
              </a:stretch>
            </a:blipFill>
          </p:spPr>
          <p:txBody>
            <a:bodyPr/>
            <a:lstStyle/>
            <a:p>
              <a:endParaRPr lang="en-IN"/>
            </a:p>
          </p:txBody>
        </p:sp>
      </p:grpSp>
      <p:sp>
        <p:nvSpPr>
          <p:cNvPr id="9" name="Freeform 9">
            <a:extLst>
              <a:ext uri="{FF2B5EF4-FFF2-40B4-BE49-F238E27FC236}">
                <a16:creationId xmlns:a16="http://schemas.microsoft.com/office/drawing/2014/main" id="{035CACA9-DBC7-7582-8DD2-839A3BF800C5}"/>
              </a:ext>
            </a:extLst>
          </p:cNvPr>
          <p:cNvSpPr/>
          <p:nvPr/>
        </p:nvSpPr>
        <p:spPr>
          <a:xfrm>
            <a:off x="1407370" y="1257300"/>
            <a:ext cx="1519327" cy="469610"/>
          </a:xfrm>
          <a:custGeom>
            <a:avLst/>
            <a:gdLst/>
            <a:ahLst/>
            <a:cxnLst/>
            <a:rect l="l" t="t" r="r" b="b"/>
            <a:pathLst>
              <a:path w="1519327" h="469610">
                <a:moveTo>
                  <a:pt x="0" y="0"/>
                </a:moveTo>
                <a:lnTo>
                  <a:pt x="1519327" y="0"/>
                </a:lnTo>
                <a:lnTo>
                  <a:pt x="1519327" y="469611"/>
                </a:lnTo>
                <a:lnTo>
                  <a:pt x="0" y="4696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DACF0A94-480C-804C-B5AB-234CBDFC22A4}"/>
              </a:ext>
            </a:extLst>
          </p:cNvPr>
          <p:cNvSpPr/>
          <p:nvPr/>
        </p:nvSpPr>
        <p:spPr>
          <a:xfrm>
            <a:off x="13181211" y="8788690"/>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1" name="TextBox 11">
            <a:extLst>
              <a:ext uri="{FF2B5EF4-FFF2-40B4-BE49-F238E27FC236}">
                <a16:creationId xmlns:a16="http://schemas.microsoft.com/office/drawing/2014/main" id="{FA3BFF0B-28C0-EA81-B643-F8C7DEC37C95}"/>
              </a:ext>
            </a:extLst>
          </p:cNvPr>
          <p:cNvSpPr txBox="1"/>
          <p:nvPr/>
        </p:nvSpPr>
        <p:spPr>
          <a:xfrm>
            <a:off x="1092542" y="3366944"/>
            <a:ext cx="9185132" cy="6876241"/>
          </a:xfrm>
          <a:prstGeom prst="rect">
            <a:avLst/>
          </a:prstGeom>
        </p:spPr>
        <p:txBody>
          <a:bodyPr lIns="0" tIns="0" rIns="0" bIns="0" rtlCol="0" anchor="t">
            <a:spAutoFit/>
          </a:bodyPr>
          <a:lstStyle/>
          <a:p>
            <a:pPr marL="457200" indent="-457200">
              <a:buFont typeface="Arial" panose="020B0604020202020204" pitchFamily="34" charset="0"/>
              <a:buChar char="•"/>
            </a:pPr>
            <a:r>
              <a:rPr lang="en-US" sz="3200" dirty="0">
                <a:solidFill>
                  <a:schemeClr val="tx2">
                    <a:lumMod val="75000"/>
                  </a:schemeClr>
                </a:solidFill>
              </a:rPr>
              <a:t>Business impact: higher conversion/AOV, lower churn and acquisition cost, improved inventory and staffing plans, and more accurate revenue forecasts.</a:t>
            </a:r>
          </a:p>
          <a:p>
            <a:endParaRPr lang="en-US" sz="3200" dirty="0">
              <a:solidFill>
                <a:schemeClr val="tx2">
                  <a:lumMod val="75000"/>
                </a:schemeClr>
              </a:solidFill>
            </a:endParaRPr>
          </a:p>
          <a:p>
            <a:pPr marL="457200" indent="-457200">
              <a:buFont typeface="Arial" panose="020B0604020202020204" pitchFamily="34" charset="0"/>
              <a:buChar char="•"/>
            </a:pPr>
            <a:r>
              <a:rPr lang="en-US" sz="3200" dirty="0">
                <a:solidFill>
                  <a:schemeClr val="tx2">
                    <a:lumMod val="75000"/>
                  </a:schemeClr>
                </a:solidFill>
              </a:rPr>
              <a:t>Deployment: real‑time scoring in app/site for recommendations; batch scoring for weekly campaigns and retention lists; A/B testing to measure uplift.</a:t>
            </a:r>
          </a:p>
          <a:p>
            <a:endParaRPr lang="en-US" sz="3200" dirty="0">
              <a:solidFill>
                <a:schemeClr val="tx2">
                  <a:lumMod val="75000"/>
                </a:schemeClr>
              </a:solidFill>
            </a:endParaRPr>
          </a:p>
          <a:p>
            <a:pPr marL="457200" indent="-457200">
              <a:buFont typeface="Arial" panose="020B0604020202020204" pitchFamily="34" charset="0"/>
              <a:buChar char="•"/>
            </a:pPr>
            <a:r>
              <a:rPr lang="en-US" sz="3200" dirty="0">
                <a:solidFill>
                  <a:schemeClr val="tx2">
                    <a:lumMod val="75000"/>
                  </a:schemeClr>
                </a:solidFill>
              </a:rPr>
              <a:t>Guardrails: prevent data leakage with time‑based splits, monitor drift and retrain, audit for bias/privacy, and explain key drivers for stakeholder trust.</a:t>
            </a:r>
          </a:p>
          <a:p>
            <a:pPr marL="457200" indent="-457200" algn="just">
              <a:lnSpc>
                <a:spcPts val="3691"/>
              </a:lnSpc>
              <a:buFont typeface="Arial" panose="020B0604020202020204" pitchFamily="34" charset="0"/>
              <a:buChar char="•"/>
            </a:pPr>
            <a:endParaRPr lang="en-US" sz="3200" b="1" dirty="0">
              <a:solidFill>
                <a:schemeClr val="tx2">
                  <a:lumMod val="75000"/>
                </a:schemeClr>
              </a:solidFill>
              <a:latin typeface="Aileron Bold"/>
              <a:ea typeface="Aileron Bold"/>
              <a:cs typeface="Aileron Bold"/>
              <a:sym typeface="Aileron Bold"/>
            </a:endParaRPr>
          </a:p>
        </p:txBody>
      </p:sp>
      <p:sp>
        <p:nvSpPr>
          <p:cNvPr id="12" name="TextBox 12">
            <a:extLst>
              <a:ext uri="{FF2B5EF4-FFF2-40B4-BE49-F238E27FC236}">
                <a16:creationId xmlns:a16="http://schemas.microsoft.com/office/drawing/2014/main" id="{C11D72A7-0ADC-6617-7AFD-E098F4C87126}"/>
              </a:ext>
            </a:extLst>
          </p:cNvPr>
          <p:cNvSpPr txBox="1"/>
          <p:nvPr/>
        </p:nvSpPr>
        <p:spPr>
          <a:xfrm>
            <a:off x="1219199" y="2122165"/>
            <a:ext cx="5978663" cy="992964"/>
          </a:xfrm>
          <a:prstGeom prst="rect">
            <a:avLst/>
          </a:prstGeom>
        </p:spPr>
        <p:txBody>
          <a:bodyPr wrap="square" lIns="0" tIns="0" rIns="0" bIns="0" rtlCol="0" anchor="t">
            <a:spAutoFit/>
          </a:bodyPr>
          <a:lstStyle/>
          <a:p>
            <a:pPr lvl="0">
              <a:lnSpc>
                <a:spcPts val="8254"/>
              </a:lnSpc>
              <a:spcBef>
                <a:spcPct val="0"/>
              </a:spcBef>
            </a:pPr>
            <a:r>
              <a:rPr lang="en-US" sz="6600" b="1" u="none" strike="noStrike" dirty="0">
                <a:solidFill>
                  <a:schemeClr val="tx2">
                    <a:lumMod val="75000"/>
                  </a:schemeClr>
                </a:solidFill>
                <a:latin typeface="Aileron Bold" panose="020B0604020202020204" charset="0"/>
                <a:ea typeface="Akzidenz-Grotesk Heavy"/>
                <a:cs typeface="Akzidenz-Grotesk Heavy"/>
                <a:sym typeface="Akzidenz-Grotesk Heavy"/>
              </a:rPr>
              <a:t>Conclusion</a:t>
            </a:r>
          </a:p>
        </p:txBody>
      </p:sp>
    </p:spTree>
    <p:extLst>
      <p:ext uri="{BB962C8B-B14F-4D97-AF65-F5344CB8AC3E}">
        <p14:creationId xmlns:p14="http://schemas.microsoft.com/office/powerpoint/2010/main" val="2423066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70689" y="3176727"/>
            <a:ext cx="9346622" cy="3896988"/>
          </a:xfrm>
          <a:prstGeom prst="rect">
            <a:avLst/>
          </a:prstGeom>
        </p:spPr>
        <p:txBody>
          <a:bodyPr lIns="0" tIns="0" rIns="0" bIns="0" rtlCol="0" anchor="t">
            <a:spAutoFit/>
          </a:bodyPr>
          <a:lstStyle/>
          <a:p>
            <a:pPr algn="ctr">
              <a:lnSpc>
                <a:spcPts val="14658"/>
              </a:lnSpc>
            </a:pPr>
            <a:r>
              <a:rPr lang="en-US" sz="16848" b="1" dirty="0">
                <a:solidFill>
                  <a:srgbClr val="0E2F5F"/>
                </a:solidFill>
                <a:latin typeface="Barlow Condensed Heavy"/>
                <a:ea typeface="Barlow Condensed Heavy"/>
                <a:cs typeface="Barlow Condensed Heavy"/>
                <a:sym typeface="Barlow Condensed Heavy"/>
              </a:rPr>
              <a:t>THANK YOU!</a:t>
            </a:r>
          </a:p>
        </p:txBody>
      </p:sp>
      <p:sp>
        <p:nvSpPr>
          <p:cNvPr id="6" name="TextBox 6"/>
          <p:cNvSpPr txBox="1"/>
          <p:nvPr/>
        </p:nvSpPr>
        <p:spPr>
          <a:xfrm>
            <a:off x="1559347" y="6342551"/>
            <a:ext cx="5564370" cy="522900"/>
          </a:xfrm>
          <a:prstGeom prst="rect">
            <a:avLst/>
          </a:prstGeom>
        </p:spPr>
        <p:txBody>
          <a:bodyPr lIns="0" tIns="0" rIns="0" bIns="0" rtlCol="0" anchor="t">
            <a:spAutoFit/>
          </a:bodyPr>
          <a:lstStyle/>
          <a:p>
            <a:pPr algn="l">
              <a:lnSpc>
                <a:spcPts val="4461"/>
              </a:lnSpc>
            </a:pPr>
            <a:r>
              <a:rPr lang="en-US" sz="3512" dirty="0">
                <a:solidFill>
                  <a:srgbClr val="FFFFFF"/>
                </a:solidFill>
                <a:latin typeface="Norwester"/>
                <a:ea typeface="Norwester"/>
                <a:cs typeface="Norwester"/>
                <a:sym typeface="Norwester"/>
              </a:rPr>
              <a:t>Team </a:t>
            </a:r>
            <a:r>
              <a:rPr lang="en-US" sz="3512" dirty="0" err="1">
                <a:solidFill>
                  <a:srgbClr val="FFFFFF"/>
                </a:solidFill>
                <a:latin typeface="Norwester"/>
                <a:ea typeface="Norwester"/>
                <a:cs typeface="Norwester"/>
                <a:sym typeface="Norwester"/>
              </a:rPr>
              <a:t>Achiver</a:t>
            </a:r>
            <a:endParaRPr lang="en-US" sz="3512" dirty="0">
              <a:solidFill>
                <a:srgbClr val="FFFFFF"/>
              </a:solidFill>
              <a:latin typeface="Norwester"/>
              <a:ea typeface="Norwester"/>
              <a:cs typeface="Norwester"/>
              <a:sym typeface="Norwester"/>
            </a:endParaRPr>
          </a:p>
        </p:txBody>
      </p:sp>
      <p:grpSp>
        <p:nvGrpSpPr>
          <p:cNvPr id="7" name="Group 7"/>
          <p:cNvGrpSpPr/>
          <p:nvPr/>
        </p:nvGrpSpPr>
        <p:grpSpPr>
          <a:xfrm>
            <a:off x="3424608" y="-1072654"/>
            <a:ext cx="11438784" cy="2839490"/>
            <a:chOff x="0" y="0"/>
            <a:chExt cx="3012684" cy="747849"/>
          </a:xfrm>
        </p:grpSpPr>
        <p:sp>
          <p:nvSpPr>
            <p:cNvPr id="8" name="Freeform 8"/>
            <p:cNvSpPr/>
            <p:nvPr/>
          </p:nvSpPr>
          <p:spPr>
            <a:xfrm>
              <a:off x="0" y="0"/>
              <a:ext cx="3012684" cy="747849"/>
            </a:xfrm>
            <a:custGeom>
              <a:avLst/>
              <a:gdLst/>
              <a:ahLst/>
              <a:cxnLst/>
              <a:rect l="l" t="t" r="r" b="b"/>
              <a:pathLst>
                <a:path w="3012684" h="747849">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txBody>
            <a:bodyPr/>
            <a:lstStyle/>
            <a:p>
              <a:endParaRPr lang="en-IN"/>
            </a:p>
          </p:txBody>
        </p:sp>
        <p:sp>
          <p:nvSpPr>
            <p:cNvPr id="9" name="TextBox 9"/>
            <p:cNvSpPr txBox="1"/>
            <p:nvPr/>
          </p:nvSpPr>
          <p:spPr>
            <a:xfrm>
              <a:off x="0" y="-47625"/>
              <a:ext cx="3012684" cy="795474"/>
            </a:xfrm>
            <a:prstGeom prst="rect">
              <a:avLst/>
            </a:prstGeom>
          </p:spPr>
          <p:txBody>
            <a:bodyPr lIns="50800" tIns="50800" rIns="50800" bIns="50800" rtlCol="0" anchor="ctr"/>
            <a:lstStyle/>
            <a:p>
              <a:pPr marL="0" lvl="0" indent="0" algn="ctr">
                <a:lnSpc>
                  <a:spcPts val="2800"/>
                </a:lnSpc>
                <a:spcBef>
                  <a:spcPct val="0"/>
                </a:spcBef>
              </a:pPr>
              <a:endParaRPr/>
            </a:p>
          </p:txBody>
        </p:sp>
      </p:grpSp>
      <p:grpSp>
        <p:nvGrpSpPr>
          <p:cNvPr id="10" name="Group 10"/>
          <p:cNvGrpSpPr/>
          <p:nvPr/>
        </p:nvGrpSpPr>
        <p:grpSpPr>
          <a:xfrm>
            <a:off x="8395527" y="1028700"/>
            <a:ext cx="1496945" cy="149694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txBody>
            <a:bodyPr/>
            <a:lstStyle/>
            <a:p>
              <a:endParaRPr lang="en-IN"/>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a:off x="8673581" y="1447879"/>
            <a:ext cx="940838" cy="658587"/>
          </a:xfrm>
          <a:custGeom>
            <a:avLst/>
            <a:gdLst/>
            <a:ahLst/>
            <a:cxnLst/>
            <a:rect l="l" t="t" r="r" b="b"/>
            <a:pathLst>
              <a:path w="940838" h="658587">
                <a:moveTo>
                  <a:pt x="0" y="0"/>
                </a:moveTo>
                <a:lnTo>
                  <a:pt x="940838" y="0"/>
                </a:lnTo>
                <a:lnTo>
                  <a:pt x="940838" y="658587"/>
                </a:lnTo>
                <a:lnTo>
                  <a:pt x="0" y="6585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p:cNvSpPr/>
          <p:nvPr/>
        </p:nvSpPr>
        <p:spPr>
          <a:xfrm>
            <a:off x="3424608" y="4750679"/>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5" name="Freeform 15"/>
          <p:cNvSpPr/>
          <p:nvPr/>
        </p:nvSpPr>
        <p:spPr>
          <a:xfrm flipH="1">
            <a:off x="13344065" y="4750679"/>
            <a:ext cx="1519327" cy="469610"/>
          </a:xfrm>
          <a:custGeom>
            <a:avLst/>
            <a:gdLst/>
            <a:ahLst/>
            <a:cxnLst/>
            <a:rect l="l" t="t" r="r" b="b"/>
            <a:pathLst>
              <a:path w="1519327" h="469610">
                <a:moveTo>
                  <a:pt x="1519327" y="0"/>
                </a:moveTo>
                <a:lnTo>
                  <a:pt x="0" y="0"/>
                </a:lnTo>
                <a:lnTo>
                  <a:pt x="0" y="469610"/>
                </a:lnTo>
                <a:lnTo>
                  <a:pt x="1519327" y="469610"/>
                </a:lnTo>
                <a:lnTo>
                  <a:pt x="15193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16" name="Group 16"/>
          <p:cNvGrpSpPr/>
          <p:nvPr/>
        </p:nvGrpSpPr>
        <p:grpSpPr>
          <a:xfrm>
            <a:off x="0" y="8996715"/>
            <a:ext cx="18288000" cy="1290285"/>
            <a:chOff x="0" y="0"/>
            <a:chExt cx="4816593" cy="339828"/>
          </a:xfrm>
        </p:grpSpPr>
        <p:sp>
          <p:nvSpPr>
            <p:cNvPr id="17" name="Freeform 17"/>
            <p:cNvSpPr/>
            <p:nvPr/>
          </p:nvSpPr>
          <p:spPr>
            <a:xfrm>
              <a:off x="0" y="0"/>
              <a:ext cx="4816592" cy="339828"/>
            </a:xfrm>
            <a:custGeom>
              <a:avLst/>
              <a:gdLst/>
              <a:ahLst/>
              <a:cxnLst/>
              <a:rect l="l" t="t" r="r" b="b"/>
              <a:pathLst>
                <a:path w="4816592" h="339828">
                  <a:moveTo>
                    <a:pt x="0" y="0"/>
                  </a:moveTo>
                  <a:lnTo>
                    <a:pt x="4816592" y="0"/>
                  </a:lnTo>
                  <a:lnTo>
                    <a:pt x="4816592" y="339828"/>
                  </a:lnTo>
                  <a:lnTo>
                    <a:pt x="0" y="339828"/>
                  </a:lnTo>
                  <a:close/>
                </a:path>
              </a:pathLst>
            </a:custGeom>
            <a:solidFill>
              <a:srgbClr val="0E2F5F"/>
            </a:solidFill>
            <a:ln cap="sq">
              <a:noFill/>
              <a:prstDash val="solid"/>
              <a:miter/>
            </a:ln>
          </p:spPr>
          <p:txBody>
            <a:bodyPr/>
            <a:lstStyle/>
            <a:p>
              <a:endParaRPr lang="en-IN"/>
            </a:p>
          </p:txBody>
        </p:sp>
        <p:sp>
          <p:nvSpPr>
            <p:cNvPr id="18" name="TextBox 18"/>
            <p:cNvSpPr txBox="1"/>
            <p:nvPr/>
          </p:nvSpPr>
          <p:spPr>
            <a:xfrm>
              <a:off x="0" y="-47625"/>
              <a:ext cx="4816593" cy="387453"/>
            </a:xfrm>
            <a:prstGeom prst="rect">
              <a:avLst/>
            </a:prstGeom>
          </p:spPr>
          <p:txBody>
            <a:bodyPr lIns="50800" tIns="50800" rIns="50800" bIns="50800" rtlCol="0" anchor="ctr"/>
            <a:lstStyle/>
            <a:p>
              <a:pPr marL="0" lvl="0" indent="0" algn="ctr">
                <a:lnSpc>
                  <a:spcPts val="2800"/>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748</Words>
  <Application>Microsoft Office PowerPoint</Application>
  <PresentationFormat>Custom</PresentationFormat>
  <Paragraphs>90</Paragraphs>
  <Slides>12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Aileron Heavy</vt:lpstr>
      <vt:lpstr>Aileron</vt:lpstr>
      <vt:lpstr>Barlow Condensed Heavy</vt:lpstr>
      <vt:lpstr>Aileron Bold</vt:lpstr>
      <vt:lpstr>Calibri</vt:lpstr>
      <vt:lpstr>Arial</vt:lpstr>
      <vt:lpstr>Aileron Ultra-Bold</vt:lpstr>
      <vt:lpstr>Archivo Black</vt:lpstr>
      <vt:lpstr>Akzidenz-Grotesk Heavy</vt:lpstr>
      <vt:lpstr>Wingdings</vt:lpstr>
      <vt:lpstr>Norwester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Simple The Future Of The Arctic Presentation</dc:title>
  <cp:lastModifiedBy>Subham Kumar Sahoo</cp:lastModifiedBy>
  <cp:revision>8</cp:revision>
  <dcterms:created xsi:type="dcterms:W3CDTF">2006-08-16T00:00:00Z</dcterms:created>
  <dcterms:modified xsi:type="dcterms:W3CDTF">2025-09-05T11:05:53Z</dcterms:modified>
  <dc:identifier>DAGrq-H2vVo</dc:identifier>
</cp:coreProperties>
</file>